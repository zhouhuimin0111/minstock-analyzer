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69" r:id="rId3"/>
    <p:sldId id="268" r:id="rId4"/>
    <p:sldId id="275" r:id="rId5"/>
    <p:sldId id="270" r:id="rId6"/>
    <p:sldId id="274" r:id="rId7"/>
    <p:sldId id="278" r:id="rId8"/>
    <p:sldId id="277" r:id="rId9"/>
    <p:sldId id="280" r:id="rId10"/>
    <p:sldId id="276" r:id="rId11"/>
    <p:sldId id="279" r:id="rId12"/>
    <p:sldId id="271" r:id="rId13"/>
    <p:sldId id="273" r:id="rId14"/>
    <p:sldId id="272"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10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0460F6-F0A7-48A9-9F9E-A82478E4A283}" type="datetimeFigureOut">
              <a:rPr lang="zh-CN" altLang="en-US" smtClean="0"/>
              <a:t>2026/2/26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0B8D7C-1E9F-498C-8B1B-E1652E101957}" type="slidenum">
              <a:rPr lang="zh-CN" altLang="en-US" smtClean="0"/>
              <a:t>‹#›</a:t>
            </a:fld>
            <a:endParaRPr lang="zh-CN" altLang="en-US"/>
          </a:p>
        </p:txBody>
      </p:sp>
    </p:spTree>
    <p:extLst>
      <p:ext uri="{BB962C8B-B14F-4D97-AF65-F5344CB8AC3E}">
        <p14:creationId xmlns:p14="http://schemas.microsoft.com/office/powerpoint/2010/main" val="4201765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8B8DA5-F205-446F-9A7C-0B87C8F9022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7D400ED-5FA9-72A3-2FF1-EE8380EB88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6DB95DE3-5C85-4989-C757-AC145823F8DA}"/>
              </a:ext>
            </a:extLst>
          </p:cNvPr>
          <p:cNvSpPr>
            <a:spLocks noGrp="1"/>
          </p:cNvSpPr>
          <p:nvPr>
            <p:ph type="dt" sz="half" idx="10"/>
          </p:nvPr>
        </p:nvSpPr>
        <p:spPr/>
        <p:txBody>
          <a:bodyPr/>
          <a:lstStyle/>
          <a:p>
            <a:fld id="{70E32B2B-8592-4D09-AE37-45AA4153AF2B}" type="datetimeFigureOut">
              <a:rPr lang="zh-CN" altLang="en-US" smtClean="0"/>
              <a:t>2026/2/26</a:t>
            </a:fld>
            <a:endParaRPr lang="zh-CN" altLang="en-US"/>
          </a:p>
        </p:txBody>
      </p:sp>
      <p:sp>
        <p:nvSpPr>
          <p:cNvPr id="5" name="页脚占位符 4">
            <a:extLst>
              <a:ext uri="{FF2B5EF4-FFF2-40B4-BE49-F238E27FC236}">
                <a16:creationId xmlns:a16="http://schemas.microsoft.com/office/drawing/2014/main" id="{4AC7D399-3BB7-E1EE-9FB5-FC795DD406F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A35B088-3131-F743-8C05-082AFE6FA1B9}"/>
              </a:ext>
            </a:extLst>
          </p:cNvPr>
          <p:cNvSpPr>
            <a:spLocks noGrp="1"/>
          </p:cNvSpPr>
          <p:nvPr>
            <p:ph type="sldNum" sz="quarter" idx="12"/>
          </p:nvPr>
        </p:nvSpPr>
        <p:spPr/>
        <p:txBody>
          <a:bodyPr/>
          <a:lstStyle/>
          <a:p>
            <a:fld id="{E8935810-1BE8-4B97-898E-523823AE28D1}" type="slidenum">
              <a:rPr lang="zh-CN" altLang="en-US" smtClean="0"/>
              <a:t>‹#›</a:t>
            </a:fld>
            <a:endParaRPr lang="zh-CN" altLang="en-US"/>
          </a:p>
        </p:txBody>
      </p:sp>
    </p:spTree>
    <p:extLst>
      <p:ext uri="{BB962C8B-B14F-4D97-AF65-F5344CB8AC3E}">
        <p14:creationId xmlns:p14="http://schemas.microsoft.com/office/powerpoint/2010/main" val="24837245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7AC24C-CFF4-6E72-59DF-31824F4698D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3CA8868-D0C3-9207-A86B-E0F2E41C417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85BCE76-5056-DD78-138D-AF079323D96A}"/>
              </a:ext>
            </a:extLst>
          </p:cNvPr>
          <p:cNvSpPr>
            <a:spLocks noGrp="1"/>
          </p:cNvSpPr>
          <p:nvPr>
            <p:ph type="dt" sz="half" idx="10"/>
          </p:nvPr>
        </p:nvSpPr>
        <p:spPr/>
        <p:txBody>
          <a:bodyPr/>
          <a:lstStyle/>
          <a:p>
            <a:fld id="{70E32B2B-8592-4D09-AE37-45AA4153AF2B}" type="datetimeFigureOut">
              <a:rPr lang="zh-CN" altLang="en-US" smtClean="0"/>
              <a:t>2026/2/26</a:t>
            </a:fld>
            <a:endParaRPr lang="zh-CN" altLang="en-US"/>
          </a:p>
        </p:txBody>
      </p:sp>
      <p:sp>
        <p:nvSpPr>
          <p:cNvPr id="5" name="页脚占位符 4">
            <a:extLst>
              <a:ext uri="{FF2B5EF4-FFF2-40B4-BE49-F238E27FC236}">
                <a16:creationId xmlns:a16="http://schemas.microsoft.com/office/drawing/2014/main" id="{31F597AE-7619-08BC-7B86-3CE9C5A30E5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7C5BAB5-C226-B7B3-9DA1-3729824E5091}"/>
              </a:ext>
            </a:extLst>
          </p:cNvPr>
          <p:cNvSpPr>
            <a:spLocks noGrp="1"/>
          </p:cNvSpPr>
          <p:nvPr>
            <p:ph type="sldNum" sz="quarter" idx="12"/>
          </p:nvPr>
        </p:nvSpPr>
        <p:spPr/>
        <p:txBody>
          <a:bodyPr/>
          <a:lstStyle/>
          <a:p>
            <a:fld id="{E8935810-1BE8-4B97-898E-523823AE28D1}" type="slidenum">
              <a:rPr lang="zh-CN" altLang="en-US" smtClean="0"/>
              <a:t>‹#›</a:t>
            </a:fld>
            <a:endParaRPr lang="zh-CN" altLang="en-US"/>
          </a:p>
        </p:txBody>
      </p:sp>
    </p:spTree>
    <p:extLst>
      <p:ext uri="{BB962C8B-B14F-4D97-AF65-F5344CB8AC3E}">
        <p14:creationId xmlns:p14="http://schemas.microsoft.com/office/powerpoint/2010/main" val="2244885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B4F018-C617-884D-36CE-EE111EB72604}"/>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72754BB-E4FB-AF0E-1E0A-0D77309381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573AA23C-A794-D76D-BA60-0BF5FA2DB5B1}"/>
              </a:ext>
            </a:extLst>
          </p:cNvPr>
          <p:cNvSpPr>
            <a:spLocks noGrp="1"/>
          </p:cNvSpPr>
          <p:nvPr>
            <p:ph type="dt" sz="half" idx="10"/>
          </p:nvPr>
        </p:nvSpPr>
        <p:spPr/>
        <p:txBody>
          <a:bodyPr/>
          <a:lstStyle/>
          <a:p>
            <a:fld id="{70E32B2B-8592-4D09-AE37-45AA4153AF2B}" type="datetimeFigureOut">
              <a:rPr lang="zh-CN" altLang="en-US" smtClean="0"/>
              <a:t>2026/2/26</a:t>
            </a:fld>
            <a:endParaRPr lang="zh-CN" altLang="en-US"/>
          </a:p>
        </p:txBody>
      </p:sp>
      <p:sp>
        <p:nvSpPr>
          <p:cNvPr id="5" name="页脚占位符 4">
            <a:extLst>
              <a:ext uri="{FF2B5EF4-FFF2-40B4-BE49-F238E27FC236}">
                <a16:creationId xmlns:a16="http://schemas.microsoft.com/office/drawing/2014/main" id="{D1515394-1C59-88E8-B847-47E1CDFDEF1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F5BE315-C3C7-A370-6157-2CFC3204B81B}"/>
              </a:ext>
            </a:extLst>
          </p:cNvPr>
          <p:cNvSpPr>
            <a:spLocks noGrp="1"/>
          </p:cNvSpPr>
          <p:nvPr>
            <p:ph type="sldNum" sz="quarter" idx="12"/>
          </p:nvPr>
        </p:nvSpPr>
        <p:spPr/>
        <p:txBody>
          <a:bodyPr/>
          <a:lstStyle/>
          <a:p>
            <a:fld id="{E8935810-1BE8-4B97-898E-523823AE28D1}" type="slidenum">
              <a:rPr lang="zh-CN" altLang="en-US" smtClean="0"/>
              <a:t>‹#›</a:t>
            </a:fld>
            <a:endParaRPr lang="zh-CN" altLang="en-US"/>
          </a:p>
        </p:txBody>
      </p:sp>
    </p:spTree>
    <p:extLst>
      <p:ext uri="{BB962C8B-B14F-4D97-AF65-F5344CB8AC3E}">
        <p14:creationId xmlns:p14="http://schemas.microsoft.com/office/powerpoint/2010/main" val="3899506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33D22F-DB73-18DF-FD53-C8DDBAE5283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229CDFA-544E-117F-4EB4-BC0A305AE8A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2597E8B-1A50-0786-D2CF-E58A8FCF0A3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C3587CF-471F-9891-902C-0654584D1A8F}"/>
              </a:ext>
            </a:extLst>
          </p:cNvPr>
          <p:cNvSpPr>
            <a:spLocks noGrp="1"/>
          </p:cNvSpPr>
          <p:nvPr>
            <p:ph type="dt" sz="half" idx="10"/>
          </p:nvPr>
        </p:nvSpPr>
        <p:spPr/>
        <p:txBody>
          <a:bodyPr/>
          <a:lstStyle/>
          <a:p>
            <a:fld id="{70E32B2B-8592-4D09-AE37-45AA4153AF2B}" type="datetimeFigureOut">
              <a:rPr lang="zh-CN" altLang="en-US" smtClean="0"/>
              <a:t>2026/2/26</a:t>
            </a:fld>
            <a:endParaRPr lang="zh-CN" altLang="en-US"/>
          </a:p>
        </p:txBody>
      </p:sp>
      <p:sp>
        <p:nvSpPr>
          <p:cNvPr id="6" name="页脚占位符 5">
            <a:extLst>
              <a:ext uri="{FF2B5EF4-FFF2-40B4-BE49-F238E27FC236}">
                <a16:creationId xmlns:a16="http://schemas.microsoft.com/office/drawing/2014/main" id="{1B5AD232-7602-10FD-7272-8FD1410CDDF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D814EA8-EA9A-F1A3-8D4A-21D7AF1E4808}"/>
              </a:ext>
            </a:extLst>
          </p:cNvPr>
          <p:cNvSpPr>
            <a:spLocks noGrp="1"/>
          </p:cNvSpPr>
          <p:nvPr>
            <p:ph type="sldNum" sz="quarter" idx="12"/>
          </p:nvPr>
        </p:nvSpPr>
        <p:spPr/>
        <p:txBody>
          <a:bodyPr/>
          <a:lstStyle/>
          <a:p>
            <a:fld id="{E8935810-1BE8-4B97-898E-523823AE28D1}" type="slidenum">
              <a:rPr lang="zh-CN" altLang="en-US" smtClean="0"/>
              <a:t>‹#›</a:t>
            </a:fld>
            <a:endParaRPr lang="zh-CN" altLang="en-US"/>
          </a:p>
        </p:txBody>
      </p:sp>
    </p:spTree>
    <p:extLst>
      <p:ext uri="{BB962C8B-B14F-4D97-AF65-F5344CB8AC3E}">
        <p14:creationId xmlns:p14="http://schemas.microsoft.com/office/powerpoint/2010/main" val="73029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361523-15A2-E2E5-E211-63CA98A5750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0FDE9EF-F1E7-8519-039A-3C8CEC8B1D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D6AC54C-0A9A-D449-3C8B-78BAC4B7D629}"/>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9F1AAA0-C62A-73EA-D76E-D62B613CE2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AC81278-1B84-AB98-555C-74596BF0E73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4FDE38F-1BFE-6A46-AA97-92137759DFF5}"/>
              </a:ext>
            </a:extLst>
          </p:cNvPr>
          <p:cNvSpPr>
            <a:spLocks noGrp="1"/>
          </p:cNvSpPr>
          <p:nvPr>
            <p:ph type="dt" sz="half" idx="10"/>
          </p:nvPr>
        </p:nvSpPr>
        <p:spPr/>
        <p:txBody>
          <a:bodyPr/>
          <a:lstStyle/>
          <a:p>
            <a:fld id="{70E32B2B-8592-4D09-AE37-45AA4153AF2B}" type="datetimeFigureOut">
              <a:rPr lang="zh-CN" altLang="en-US" smtClean="0"/>
              <a:t>2026/2/26</a:t>
            </a:fld>
            <a:endParaRPr lang="zh-CN" altLang="en-US"/>
          </a:p>
        </p:txBody>
      </p:sp>
      <p:sp>
        <p:nvSpPr>
          <p:cNvPr id="8" name="页脚占位符 7">
            <a:extLst>
              <a:ext uri="{FF2B5EF4-FFF2-40B4-BE49-F238E27FC236}">
                <a16:creationId xmlns:a16="http://schemas.microsoft.com/office/drawing/2014/main" id="{88574259-8690-9BA2-AAEE-BE91124768F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72DAD9F-63AD-C7DC-74D5-40006EA06D16}"/>
              </a:ext>
            </a:extLst>
          </p:cNvPr>
          <p:cNvSpPr>
            <a:spLocks noGrp="1"/>
          </p:cNvSpPr>
          <p:nvPr>
            <p:ph type="sldNum" sz="quarter" idx="12"/>
          </p:nvPr>
        </p:nvSpPr>
        <p:spPr/>
        <p:txBody>
          <a:bodyPr/>
          <a:lstStyle/>
          <a:p>
            <a:fld id="{E8935810-1BE8-4B97-898E-523823AE28D1}" type="slidenum">
              <a:rPr lang="zh-CN" altLang="en-US" smtClean="0"/>
              <a:t>‹#›</a:t>
            </a:fld>
            <a:endParaRPr lang="zh-CN" altLang="en-US"/>
          </a:p>
        </p:txBody>
      </p:sp>
    </p:spTree>
    <p:extLst>
      <p:ext uri="{BB962C8B-B14F-4D97-AF65-F5344CB8AC3E}">
        <p14:creationId xmlns:p14="http://schemas.microsoft.com/office/powerpoint/2010/main" val="308968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FD061D-A391-C7C6-7A3D-862431E63A3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43B10F-8B09-5CA9-0810-D06E18E1CBF9}"/>
              </a:ext>
            </a:extLst>
          </p:cNvPr>
          <p:cNvSpPr>
            <a:spLocks noGrp="1"/>
          </p:cNvSpPr>
          <p:nvPr>
            <p:ph type="dt" sz="half" idx="10"/>
          </p:nvPr>
        </p:nvSpPr>
        <p:spPr/>
        <p:txBody>
          <a:bodyPr/>
          <a:lstStyle/>
          <a:p>
            <a:fld id="{70E32B2B-8592-4D09-AE37-45AA4153AF2B}" type="datetimeFigureOut">
              <a:rPr lang="zh-CN" altLang="en-US" smtClean="0"/>
              <a:t>2026/2/26</a:t>
            </a:fld>
            <a:endParaRPr lang="zh-CN" altLang="en-US"/>
          </a:p>
        </p:txBody>
      </p:sp>
      <p:sp>
        <p:nvSpPr>
          <p:cNvPr id="4" name="页脚占位符 3">
            <a:extLst>
              <a:ext uri="{FF2B5EF4-FFF2-40B4-BE49-F238E27FC236}">
                <a16:creationId xmlns:a16="http://schemas.microsoft.com/office/drawing/2014/main" id="{33ED2FE9-0074-A9C8-E5F5-5A284EEE6A8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73675BA-7780-0A30-7FE2-66A974A9A687}"/>
              </a:ext>
            </a:extLst>
          </p:cNvPr>
          <p:cNvSpPr>
            <a:spLocks noGrp="1"/>
          </p:cNvSpPr>
          <p:nvPr>
            <p:ph type="sldNum" sz="quarter" idx="12"/>
          </p:nvPr>
        </p:nvSpPr>
        <p:spPr/>
        <p:txBody>
          <a:bodyPr/>
          <a:lstStyle/>
          <a:p>
            <a:fld id="{E8935810-1BE8-4B97-898E-523823AE28D1}" type="slidenum">
              <a:rPr lang="zh-CN" altLang="en-US" smtClean="0"/>
              <a:t>‹#›</a:t>
            </a:fld>
            <a:endParaRPr lang="zh-CN" altLang="en-US"/>
          </a:p>
        </p:txBody>
      </p:sp>
    </p:spTree>
    <p:extLst>
      <p:ext uri="{BB962C8B-B14F-4D97-AF65-F5344CB8AC3E}">
        <p14:creationId xmlns:p14="http://schemas.microsoft.com/office/powerpoint/2010/main" val="1115399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5EF2062-F634-E2AB-09F6-F19E9CDDD69A}"/>
              </a:ext>
            </a:extLst>
          </p:cNvPr>
          <p:cNvSpPr>
            <a:spLocks noGrp="1"/>
          </p:cNvSpPr>
          <p:nvPr>
            <p:ph type="dt" sz="half" idx="10"/>
          </p:nvPr>
        </p:nvSpPr>
        <p:spPr/>
        <p:txBody>
          <a:bodyPr/>
          <a:lstStyle/>
          <a:p>
            <a:fld id="{70E32B2B-8592-4D09-AE37-45AA4153AF2B}" type="datetimeFigureOut">
              <a:rPr lang="zh-CN" altLang="en-US" smtClean="0"/>
              <a:t>2026/2/26</a:t>
            </a:fld>
            <a:endParaRPr lang="zh-CN" altLang="en-US"/>
          </a:p>
        </p:txBody>
      </p:sp>
      <p:sp>
        <p:nvSpPr>
          <p:cNvPr id="3" name="页脚占位符 2">
            <a:extLst>
              <a:ext uri="{FF2B5EF4-FFF2-40B4-BE49-F238E27FC236}">
                <a16:creationId xmlns:a16="http://schemas.microsoft.com/office/drawing/2014/main" id="{982716B5-C78B-EE15-AADB-5E69E51B03DE}"/>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856F6C5-29EF-3C01-8648-2C495C2CAE3B}"/>
              </a:ext>
            </a:extLst>
          </p:cNvPr>
          <p:cNvSpPr>
            <a:spLocks noGrp="1"/>
          </p:cNvSpPr>
          <p:nvPr>
            <p:ph type="sldNum" sz="quarter" idx="12"/>
          </p:nvPr>
        </p:nvSpPr>
        <p:spPr/>
        <p:txBody>
          <a:bodyPr/>
          <a:lstStyle/>
          <a:p>
            <a:fld id="{E8935810-1BE8-4B97-898E-523823AE28D1}" type="slidenum">
              <a:rPr lang="zh-CN" altLang="en-US" smtClean="0"/>
              <a:t>‹#›</a:t>
            </a:fld>
            <a:endParaRPr lang="zh-CN" altLang="en-US"/>
          </a:p>
        </p:txBody>
      </p:sp>
    </p:spTree>
    <p:extLst>
      <p:ext uri="{BB962C8B-B14F-4D97-AF65-F5344CB8AC3E}">
        <p14:creationId xmlns:p14="http://schemas.microsoft.com/office/powerpoint/2010/main" val="1973382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41134E-1176-63F3-9B85-36239F0462C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B297988-8A02-6C15-E2C5-A66C6107E2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FBAC77E-9B5A-B7E9-1167-FE4D65AF06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BCB83EE-DA88-8309-6640-7931E041DDD0}"/>
              </a:ext>
            </a:extLst>
          </p:cNvPr>
          <p:cNvSpPr>
            <a:spLocks noGrp="1"/>
          </p:cNvSpPr>
          <p:nvPr>
            <p:ph type="dt" sz="half" idx="10"/>
          </p:nvPr>
        </p:nvSpPr>
        <p:spPr/>
        <p:txBody>
          <a:bodyPr/>
          <a:lstStyle/>
          <a:p>
            <a:fld id="{70E32B2B-8592-4D09-AE37-45AA4153AF2B}" type="datetimeFigureOut">
              <a:rPr lang="zh-CN" altLang="en-US" smtClean="0"/>
              <a:t>2026/2/26</a:t>
            </a:fld>
            <a:endParaRPr lang="zh-CN" altLang="en-US"/>
          </a:p>
        </p:txBody>
      </p:sp>
      <p:sp>
        <p:nvSpPr>
          <p:cNvPr id="6" name="页脚占位符 5">
            <a:extLst>
              <a:ext uri="{FF2B5EF4-FFF2-40B4-BE49-F238E27FC236}">
                <a16:creationId xmlns:a16="http://schemas.microsoft.com/office/drawing/2014/main" id="{50FDFFC2-9FDB-C9E7-B614-B7140359A61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3CED595-B261-1AD4-0C03-57EB3121410D}"/>
              </a:ext>
            </a:extLst>
          </p:cNvPr>
          <p:cNvSpPr>
            <a:spLocks noGrp="1"/>
          </p:cNvSpPr>
          <p:nvPr>
            <p:ph type="sldNum" sz="quarter" idx="12"/>
          </p:nvPr>
        </p:nvSpPr>
        <p:spPr/>
        <p:txBody>
          <a:bodyPr/>
          <a:lstStyle/>
          <a:p>
            <a:fld id="{E8935810-1BE8-4B97-898E-523823AE28D1}" type="slidenum">
              <a:rPr lang="zh-CN" altLang="en-US" smtClean="0"/>
              <a:t>‹#›</a:t>
            </a:fld>
            <a:endParaRPr lang="zh-CN" altLang="en-US"/>
          </a:p>
        </p:txBody>
      </p:sp>
    </p:spTree>
    <p:extLst>
      <p:ext uri="{BB962C8B-B14F-4D97-AF65-F5344CB8AC3E}">
        <p14:creationId xmlns:p14="http://schemas.microsoft.com/office/powerpoint/2010/main" val="3689521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1ADDE0-8C9D-2174-B0D0-221950567EA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350CF94-51AE-17C6-A15A-CA46577A4A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6F360BC0-0338-26C2-DF03-768913A930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B84167D-A70C-0642-E158-0F95BA2D8048}"/>
              </a:ext>
            </a:extLst>
          </p:cNvPr>
          <p:cNvSpPr>
            <a:spLocks noGrp="1"/>
          </p:cNvSpPr>
          <p:nvPr>
            <p:ph type="dt" sz="half" idx="10"/>
          </p:nvPr>
        </p:nvSpPr>
        <p:spPr/>
        <p:txBody>
          <a:bodyPr/>
          <a:lstStyle/>
          <a:p>
            <a:fld id="{70E32B2B-8592-4D09-AE37-45AA4153AF2B}" type="datetimeFigureOut">
              <a:rPr lang="zh-CN" altLang="en-US" smtClean="0"/>
              <a:t>2026/2/26</a:t>
            </a:fld>
            <a:endParaRPr lang="zh-CN" altLang="en-US"/>
          </a:p>
        </p:txBody>
      </p:sp>
      <p:sp>
        <p:nvSpPr>
          <p:cNvPr id="6" name="页脚占位符 5">
            <a:extLst>
              <a:ext uri="{FF2B5EF4-FFF2-40B4-BE49-F238E27FC236}">
                <a16:creationId xmlns:a16="http://schemas.microsoft.com/office/drawing/2014/main" id="{2F72106F-8685-3644-6540-90FB3DC9ECC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E3CCDFC-E5DB-A891-F14D-E07B412D4600}"/>
              </a:ext>
            </a:extLst>
          </p:cNvPr>
          <p:cNvSpPr>
            <a:spLocks noGrp="1"/>
          </p:cNvSpPr>
          <p:nvPr>
            <p:ph type="sldNum" sz="quarter" idx="12"/>
          </p:nvPr>
        </p:nvSpPr>
        <p:spPr/>
        <p:txBody>
          <a:bodyPr/>
          <a:lstStyle/>
          <a:p>
            <a:fld id="{E8935810-1BE8-4B97-898E-523823AE28D1}" type="slidenum">
              <a:rPr lang="zh-CN" altLang="en-US" smtClean="0"/>
              <a:t>‹#›</a:t>
            </a:fld>
            <a:endParaRPr lang="zh-CN" altLang="en-US"/>
          </a:p>
        </p:txBody>
      </p:sp>
    </p:spTree>
    <p:extLst>
      <p:ext uri="{BB962C8B-B14F-4D97-AF65-F5344CB8AC3E}">
        <p14:creationId xmlns:p14="http://schemas.microsoft.com/office/powerpoint/2010/main" val="2662331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243D72-F3D1-4C50-CEAC-5ECA2543BFA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A6FEBF5-3832-1779-4585-56024C9179B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54F6DBD-3626-9EAB-2E8D-1BB477E2CE48}"/>
              </a:ext>
            </a:extLst>
          </p:cNvPr>
          <p:cNvSpPr>
            <a:spLocks noGrp="1"/>
          </p:cNvSpPr>
          <p:nvPr>
            <p:ph type="dt" sz="half" idx="10"/>
          </p:nvPr>
        </p:nvSpPr>
        <p:spPr/>
        <p:txBody>
          <a:bodyPr/>
          <a:lstStyle/>
          <a:p>
            <a:fld id="{70E32B2B-8592-4D09-AE37-45AA4153AF2B}" type="datetimeFigureOut">
              <a:rPr lang="zh-CN" altLang="en-US" smtClean="0"/>
              <a:t>2026/2/26</a:t>
            </a:fld>
            <a:endParaRPr lang="zh-CN" altLang="en-US"/>
          </a:p>
        </p:txBody>
      </p:sp>
      <p:sp>
        <p:nvSpPr>
          <p:cNvPr id="5" name="页脚占位符 4">
            <a:extLst>
              <a:ext uri="{FF2B5EF4-FFF2-40B4-BE49-F238E27FC236}">
                <a16:creationId xmlns:a16="http://schemas.microsoft.com/office/drawing/2014/main" id="{FE1C137F-A474-F833-3642-DDB87D7A20F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07CBCF2-4A1A-33BC-B901-52FBA6A324AA}"/>
              </a:ext>
            </a:extLst>
          </p:cNvPr>
          <p:cNvSpPr>
            <a:spLocks noGrp="1"/>
          </p:cNvSpPr>
          <p:nvPr>
            <p:ph type="sldNum" sz="quarter" idx="12"/>
          </p:nvPr>
        </p:nvSpPr>
        <p:spPr/>
        <p:txBody>
          <a:bodyPr/>
          <a:lstStyle/>
          <a:p>
            <a:fld id="{E8935810-1BE8-4B97-898E-523823AE28D1}" type="slidenum">
              <a:rPr lang="zh-CN" altLang="en-US" smtClean="0"/>
              <a:t>‹#›</a:t>
            </a:fld>
            <a:endParaRPr lang="zh-CN" altLang="en-US"/>
          </a:p>
        </p:txBody>
      </p:sp>
    </p:spTree>
    <p:extLst>
      <p:ext uri="{BB962C8B-B14F-4D97-AF65-F5344CB8AC3E}">
        <p14:creationId xmlns:p14="http://schemas.microsoft.com/office/powerpoint/2010/main" val="14061185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8ECC4EF-3A01-C5FA-D5C2-6FBAFA0FF19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1468F51-C5D4-A747-EDB0-86A4E04B429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D989762-4055-3C47-B5FA-3CA38B50F7C9}"/>
              </a:ext>
            </a:extLst>
          </p:cNvPr>
          <p:cNvSpPr>
            <a:spLocks noGrp="1"/>
          </p:cNvSpPr>
          <p:nvPr>
            <p:ph type="dt" sz="half" idx="10"/>
          </p:nvPr>
        </p:nvSpPr>
        <p:spPr/>
        <p:txBody>
          <a:bodyPr/>
          <a:lstStyle/>
          <a:p>
            <a:fld id="{70E32B2B-8592-4D09-AE37-45AA4153AF2B}" type="datetimeFigureOut">
              <a:rPr lang="zh-CN" altLang="en-US" smtClean="0"/>
              <a:t>2026/2/26</a:t>
            </a:fld>
            <a:endParaRPr lang="zh-CN" altLang="en-US"/>
          </a:p>
        </p:txBody>
      </p:sp>
      <p:sp>
        <p:nvSpPr>
          <p:cNvPr id="5" name="页脚占位符 4">
            <a:extLst>
              <a:ext uri="{FF2B5EF4-FFF2-40B4-BE49-F238E27FC236}">
                <a16:creationId xmlns:a16="http://schemas.microsoft.com/office/drawing/2014/main" id="{BA20F86C-BD19-9977-A742-5306104B25C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D880D9C-E361-D8B3-925D-D600FC7EF7AD}"/>
              </a:ext>
            </a:extLst>
          </p:cNvPr>
          <p:cNvSpPr>
            <a:spLocks noGrp="1"/>
          </p:cNvSpPr>
          <p:nvPr>
            <p:ph type="sldNum" sz="quarter" idx="12"/>
          </p:nvPr>
        </p:nvSpPr>
        <p:spPr/>
        <p:txBody>
          <a:bodyPr/>
          <a:lstStyle/>
          <a:p>
            <a:fld id="{E8935810-1BE8-4B97-898E-523823AE28D1}" type="slidenum">
              <a:rPr lang="zh-CN" altLang="en-US" smtClean="0"/>
              <a:t>‹#›</a:t>
            </a:fld>
            <a:endParaRPr lang="zh-CN" altLang="en-US"/>
          </a:p>
        </p:txBody>
      </p:sp>
    </p:spTree>
    <p:extLst>
      <p:ext uri="{BB962C8B-B14F-4D97-AF65-F5344CB8AC3E}">
        <p14:creationId xmlns:p14="http://schemas.microsoft.com/office/powerpoint/2010/main" val="456279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8BCE1E5-59BA-7103-244D-DE430DDE80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C3766E5-B40D-32A6-67A8-4A6AD891EE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6D096F9-8D54-51F5-0C8B-031456A9F3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E32B2B-8592-4D09-AE37-45AA4153AF2B}" type="datetimeFigureOut">
              <a:rPr lang="zh-CN" altLang="en-US" smtClean="0"/>
              <a:t>2026/2/26</a:t>
            </a:fld>
            <a:endParaRPr lang="zh-CN" altLang="en-US"/>
          </a:p>
        </p:txBody>
      </p:sp>
      <p:sp>
        <p:nvSpPr>
          <p:cNvPr id="5" name="页脚占位符 4">
            <a:extLst>
              <a:ext uri="{FF2B5EF4-FFF2-40B4-BE49-F238E27FC236}">
                <a16:creationId xmlns:a16="http://schemas.microsoft.com/office/drawing/2014/main" id="{1A0DD3A6-DC65-D5C6-00BD-E125BFB284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94978CBA-5A47-62AD-1861-0A84C2C3BA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935810-1BE8-4B97-898E-523823AE28D1}" type="slidenum">
              <a:rPr lang="zh-CN" altLang="en-US" smtClean="0"/>
              <a:t>‹#›</a:t>
            </a:fld>
            <a:endParaRPr lang="zh-CN" altLang="en-US"/>
          </a:p>
        </p:txBody>
      </p:sp>
    </p:spTree>
    <p:extLst>
      <p:ext uri="{BB962C8B-B14F-4D97-AF65-F5344CB8AC3E}">
        <p14:creationId xmlns:p14="http://schemas.microsoft.com/office/powerpoint/2010/main" val="33207164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zhouhuimin0111-hash/MinStock-Analyzer.git"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ZhouHuimin0111/MinStock-Analyzer"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16EA9B-6D14-3EB0-13DA-4AE19883AF79}"/>
              </a:ext>
            </a:extLst>
          </p:cNvPr>
          <p:cNvSpPr>
            <a:spLocks noGrp="1"/>
          </p:cNvSpPr>
          <p:nvPr>
            <p:ph type="ctrTitle"/>
          </p:nvPr>
        </p:nvSpPr>
        <p:spPr>
          <a:xfrm>
            <a:off x="304800" y="1122363"/>
            <a:ext cx="11682248" cy="2387600"/>
          </a:xfrm>
        </p:spPr>
        <p:txBody>
          <a:bodyPr>
            <a:normAutofit/>
          </a:bodyPr>
          <a:lstStyle/>
          <a:p>
            <a:r>
              <a:rPr lang="en-US" altLang="zh-CN" sz="4800" b="1" dirty="0" err="1">
                <a:latin typeface="宋体" panose="02010600030101010101" pitchFamily="2" charset="-122"/>
                <a:ea typeface="宋体" panose="02010600030101010101" pitchFamily="2" charset="-122"/>
              </a:rPr>
              <a:t>MinStock</a:t>
            </a:r>
            <a:r>
              <a:rPr lang="en-US" altLang="zh-CN" sz="4800" b="1" dirty="0">
                <a:latin typeface="宋体" panose="02010600030101010101" pitchFamily="2" charset="-122"/>
                <a:ea typeface="宋体" panose="02010600030101010101" pitchFamily="2" charset="-122"/>
              </a:rPr>
              <a:t>-Analyzer</a:t>
            </a:r>
            <a:r>
              <a:rPr lang="zh-CN" altLang="en-US" sz="4800" b="1" dirty="0">
                <a:latin typeface="宋体" panose="02010600030101010101" pitchFamily="2" charset="-122"/>
                <a:ea typeface="宋体" panose="02010600030101010101" pitchFamily="2" charset="-122"/>
              </a:rPr>
              <a:t>：</a:t>
            </a:r>
            <a:br>
              <a:rPr lang="en-US" altLang="zh-CN" sz="4800" b="1" dirty="0">
                <a:latin typeface="宋体" panose="02010600030101010101" pitchFamily="2" charset="-122"/>
                <a:ea typeface="宋体" panose="02010600030101010101" pitchFamily="2" charset="-122"/>
              </a:rPr>
            </a:br>
            <a:r>
              <a:rPr lang="zh-CN" altLang="en-US" sz="4800" b="1" dirty="0">
                <a:latin typeface="宋体" panose="02010600030101010101" pitchFamily="2" charset="-122"/>
                <a:ea typeface="宋体" panose="02010600030101010101" pitchFamily="2" charset="-122"/>
              </a:rPr>
              <a:t>基于大语言模型的</a:t>
            </a:r>
            <a:r>
              <a:rPr lang="en-US" altLang="zh-CN" sz="4800" b="1" dirty="0">
                <a:latin typeface="宋体" panose="02010600030101010101" pitchFamily="2" charset="-122"/>
                <a:ea typeface="宋体" panose="02010600030101010101" pitchFamily="2" charset="-122"/>
              </a:rPr>
              <a:t>A</a:t>
            </a:r>
            <a:r>
              <a:rPr lang="zh-CN" altLang="en-US" sz="4800" b="1" dirty="0">
                <a:latin typeface="宋体" panose="02010600030101010101" pitchFamily="2" charset="-122"/>
                <a:ea typeface="宋体" panose="02010600030101010101" pitchFamily="2" charset="-122"/>
              </a:rPr>
              <a:t>股技术面分析微应用</a:t>
            </a:r>
          </a:p>
        </p:txBody>
      </p:sp>
      <p:sp>
        <p:nvSpPr>
          <p:cNvPr id="3" name="副标题 2">
            <a:extLst>
              <a:ext uri="{FF2B5EF4-FFF2-40B4-BE49-F238E27FC236}">
                <a16:creationId xmlns:a16="http://schemas.microsoft.com/office/drawing/2014/main" id="{D53FD41E-660D-9A21-06C0-70B1EA2D88EA}"/>
              </a:ext>
            </a:extLst>
          </p:cNvPr>
          <p:cNvSpPr>
            <a:spLocks noGrp="1"/>
          </p:cNvSpPr>
          <p:nvPr>
            <p:ph type="subTitle" idx="1"/>
          </p:nvPr>
        </p:nvSpPr>
        <p:spPr/>
        <p:txBody>
          <a:bodyPr/>
          <a:lstStyle/>
          <a:p>
            <a:pPr algn="r"/>
            <a:endParaRPr lang="en-US" altLang="zh-CN" dirty="0"/>
          </a:p>
          <a:p>
            <a:pPr algn="r"/>
            <a:r>
              <a:rPr lang="en-US" altLang="zh-CN" sz="2800" dirty="0">
                <a:latin typeface="宋体" panose="02010600030101010101" pitchFamily="2" charset="-122"/>
                <a:ea typeface="宋体" panose="02010600030101010101" pitchFamily="2" charset="-122"/>
              </a:rPr>
              <a:t>2024211401095</a:t>
            </a:r>
            <a:r>
              <a:rPr lang="zh-CN" altLang="en-US" sz="2800" dirty="0">
                <a:latin typeface="宋体" panose="02010600030101010101" pitchFamily="2" charset="-122"/>
                <a:ea typeface="宋体" panose="02010600030101010101" pitchFamily="2" charset="-122"/>
              </a:rPr>
              <a:t>周慧敏</a:t>
            </a:r>
          </a:p>
        </p:txBody>
      </p:sp>
    </p:spTree>
    <p:extLst>
      <p:ext uri="{BB962C8B-B14F-4D97-AF65-F5344CB8AC3E}">
        <p14:creationId xmlns:p14="http://schemas.microsoft.com/office/powerpoint/2010/main" val="26228978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A23E8F-7FE8-1A1C-0589-987B0DA29DEA}"/>
              </a:ext>
            </a:extLst>
          </p:cNvPr>
          <p:cNvSpPr>
            <a:spLocks noGrp="1"/>
          </p:cNvSpPr>
          <p:nvPr>
            <p:ph type="title"/>
          </p:nvPr>
        </p:nvSpPr>
        <p:spPr/>
        <p:txBody>
          <a:bodyPr/>
          <a:lstStyle/>
          <a:p>
            <a:r>
              <a:rPr lang="zh-CN" altLang="en-US" b="1" dirty="0">
                <a:latin typeface="宋体" panose="02010600030101010101" pitchFamily="2" charset="-122"/>
                <a:ea typeface="宋体" panose="02010600030101010101" pitchFamily="2" charset="-122"/>
              </a:rPr>
              <a:t>主要功能</a:t>
            </a:r>
          </a:p>
        </p:txBody>
      </p:sp>
      <p:sp>
        <p:nvSpPr>
          <p:cNvPr id="3" name="内容占位符 2">
            <a:extLst>
              <a:ext uri="{FF2B5EF4-FFF2-40B4-BE49-F238E27FC236}">
                <a16:creationId xmlns:a16="http://schemas.microsoft.com/office/drawing/2014/main" id="{F90C1934-741D-E94F-58A1-4AEC2901CB7D}"/>
              </a:ext>
            </a:extLst>
          </p:cNvPr>
          <p:cNvSpPr>
            <a:spLocks noGrp="1"/>
          </p:cNvSpPr>
          <p:nvPr>
            <p:ph idx="1"/>
          </p:nvPr>
        </p:nvSpPr>
        <p:spPr/>
        <p:txBody>
          <a:bodyPr/>
          <a:lstStyle/>
          <a:p>
            <a:pPr marL="0" indent="0">
              <a:buNone/>
            </a:pPr>
            <a:r>
              <a:rPr lang="zh-CN" altLang="en-US" dirty="0">
                <a:latin typeface="宋体" panose="02010600030101010101" pitchFamily="2" charset="-122"/>
                <a:ea typeface="宋体" panose="02010600030101010101" pitchFamily="2" charset="-122"/>
              </a:rPr>
              <a:t>    通过抓取真实的</a:t>
            </a:r>
            <a:r>
              <a:rPr lang="en-US" altLang="zh-CN" dirty="0">
                <a:latin typeface="宋体" panose="02010600030101010101" pitchFamily="2" charset="-122"/>
                <a:ea typeface="宋体" panose="02010600030101010101" pitchFamily="2" charset="-122"/>
              </a:rPr>
              <a:t>A</a:t>
            </a:r>
            <a:r>
              <a:rPr lang="zh-CN" altLang="en-US" dirty="0">
                <a:latin typeface="宋体" panose="02010600030101010101" pitchFamily="2" charset="-122"/>
                <a:ea typeface="宋体" panose="02010600030101010101" pitchFamily="2" charset="-122"/>
              </a:rPr>
              <a:t>股历史交易数据，并结合预设的分析提示词，调用大模型输出包含趋势概述、关键点位、风险提示和操作建议的结构化报告。</a:t>
            </a:r>
            <a:endParaRPr lang="en-US" altLang="zh-CN"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行情获取：自动抓取指定</a:t>
            </a:r>
            <a:r>
              <a:rPr lang="en-US" altLang="zh-CN" dirty="0">
                <a:latin typeface="宋体" panose="02010600030101010101" pitchFamily="2" charset="-122"/>
                <a:ea typeface="宋体" panose="02010600030101010101" pitchFamily="2" charset="-122"/>
              </a:rPr>
              <a:t>A</a:t>
            </a:r>
            <a:r>
              <a:rPr lang="zh-CN" altLang="en-US" dirty="0">
                <a:latin typeface="宋体" panose="02010600030101010101" pitchFamily="2" charset="-122"/>
                <a:ea typeface="宋体" panose="02010600030101010101" pitchFamily="2" charset="-122"/>
              </a:rPr>
              <a:t>股代码的近期历史日线数据。</a:t>
            </a:r>
          </a:p>
          <a:p>
            <a:r>
              <a:rPr lang="zh-CN" altLang="en-US" dirty="0">
                <a:latin typeface="宋体" panose="02010600030101010101" pitchFamily="2" charset="-122"/>
                <a:ea typeface="宋体" panose="02010600030101010101" pitchFamily="2" charset="-122"/>
              </a:rPr>
              <a:t>智能分析：大模型结合真实行情数据生成技术面解读。</a:t>
            </a:r>
          </a:p>
          <a:p>
            <a:r>
              <a:rPr lang="zh-CN" altLang="en-US" dirty="0">
                <a:latin typeface="宋体" panose="02010600030101010101" pitchFamily="2" charset="-122"/>
                <a:ea typeface="宋体" panose="02010600030101010101" pitchFamily="2" charset="-122"/>
              </a:rPr>
              <a:t>极简交互：基于</a:t>
            </a:r>
            <a:r>
              <a:rPr lang="en-US" altLang="zh-CN" dirty="0" err="1">
                <a:latin typeface="宋体" panose="02010600030101010101" pitchFamily="2" charset="-122"/>
                <a:ea typeface="宋体" panose="02010600030101010101" pitchFamily="2" charset="-122"/>
              </a:rPr>
              <a:t>Streamlit</a:t>
            </a:r>
            <a:r>
              <a:rPr lang="zh-CN" altLang="en-US" dirty="0">
                <a:latin typeface="宋体" panose="02010600030101010101" pitchFamily="2" charset="-122"/>
                <a:ea typeface="宋体" panose="02010600030101010101" pitchFamily="2" charset="-122"/>
              </a:rPr>
              <a:t>构建的</a:t>
            </a:r>
            <a:r>
              <a:rPr lang="en-US" altLang="zh-CN" dirty="0">
                <a:latin typeface="宋体" panose="02010600030101010101" pitchFamily="2" charset="-122"/>
                <a:ea typeface="宋体" panose="02010600030101010101" pitchFamily="2" charset="-122"/>
              </a:rPr>
              <a:t>Web</a:t>
            </a:r>
            <a:r>
              <a:rPr lang="zh-CN" altLang="en-US" dirty="0">
                <a:latin typeface="宋体" panose="02010600030101010101" pitchFamily="2" charset="-122"/>
                <a:ea typeface="宋体" panose="02010600030101010101" pitchFamily="2" charset="-122"/>
              </a:rPr>
              <a:t>界面输入代码即可生成报告。</a:t>
            </a:r>
          </a:p>
          <a:p>
            <a:endParaRPr lang="zh-CN" altLang="en-US" dirty="0"/>
          </a:p>
        </p:txBody>
      </p:sp>
    </p:spTree>
    <p:extLst>
      <p:ext uri="{BB962C8B-B14F-4D97-AF65-F5344CB8AC3E}">
        <p14:creationId xmlns:p14="http://schemas.microsoft.com/office/powerpoint/2010/main" val="3386256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F0267F-32F8-A1AF-3797-075DD3E2A91B}"/>
              </a:ext>
            </a:extLst>
          </p:cNvPr>
          <p:cNvSpPr>
            <a:spLocks noGrp="1"/>
          </p:cNvSpPr>
          <p:nvPr>
            <p:ph type="title"/>
          </p:nvPr>
        </p:nvSpPr>
        <p:spPr/>
        <p:txBody>
          <a:bodyPr/>
          <a:lstStyle/>
          <a:p>
            <a:r>
              <a:rPr lang="zh-CN" altLang="en-US" b="1" dirty="0">
                <a:latin typeface="宋体" panose="02010600030101010101" pitchFamily="2" charset="-122"/>
                <a:ea typeface="宋体" panose="02010600030101010101" pitchFamily="2" charset="-122"/>
              </a:rPr>
              <a:t>效果演示</a:t>
            </a:r>
          </a:p>
        </p:txBody>
      </p:sp>
      <p:sp>
        <p:nvSpPr>
          <p:cNvPr id="9" name="文本框 8">
            <a:extLst>
              <a:ext uri="{FF2B5EF4-FFF2-40B4-BE49-F238E27FC236}">
                <a16:creationId xmlns:a16="http://schemas.microsoft.com/office/drawing/2014/main" id="{BEF6A15B-BB83-9E2D-4E3C-99D496AC0DFC}"/>
              </a:ext>
            </a:extLst>
          </p:cNvPr>
          <p:cNvSpPr txBox="1"/>
          <p:nvPr/>
        </p:nvSpPr>
        <p:spPr>
          <a:xfrm>
            <a:off x="838200" y="1469643"/>
            <a:ext cx="5294585" cy="3262432"/>
          </a:xfrm>
          <a:prstGeom prst="rect">
            <a:avLst/>
          </a:prstGeom>
          <a:noFill/>
        </p:spPr>
        <p:txBody>
          <a:bodyPr wrap="square" rtlCol="0">
            <a:spAutoFit/>
          </a:bodyPr>
          <a:lstStyle/>
          <a:p>
            <a:r>
              <a:rPr lang="en-US" altLang="zh-CN" sz="2000" dirty="0">
                <a:latin typeface="宋体" panose="02010600030101010101" pitchFamily="2" charset="-122"/>
                <a:ea typeface="宋体" panose="02010600030101010101" pitchFamily="2" charset="-122"/>
              </a:rPr>
              <a:t>1.</a:t>
            </a:r>
            <a:r>
              <a:rPr lang="zh-CN" altLang="en-US" sz="2000" dirty="0">
                <a:latin typeface="宋体" panose="02010600030101010101" pitchFamily="2" charset="-122"/>
                <a:ea typeface="宋体" panose="02010600030101010101" pitchFamily="2" charset="-122"/>
              </a:rPr>
              <a:t>用户仅需输入股票代码，即可一键触发“数据抓取</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模型推理</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结果渲染”的完美闭环</a:t>
            </a:r>
            <a:r>
              <a:rPr lang="zh-CN" altLang="en-US"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r>
              <a:rPr lang="en-US" altLang="zh-CN" sz="2000" dirty="0">
                <a:latin typeface="宋体" panose="02010600030101010101" pitchFamily="2" charset="-122"/>
                <a:ea typeface="宋体" panose="02010600030101010101" pitchFamily="2" charset="-122"/>
              </a:rPr>
              <a:t>2.</a:t>
            </a:r>
            <a:r>
              <a:rPr lang="zh-CN" altLang="en-US" sz="2000" dirty="0">
                <a:latin typeface="宋体" panose="02010600030101010101" pitchFamily="2" charset="-122"/>
                <a:ea typeface="宋体" panose="02010600030101010101" pitchFamily="2" charset="-122"/>
              </a:rPr>
              <a:t>页面成功渲染出包含开盘、收盘、最高、最低及成交量等字段的数据表格。</a:t>
            </a:r>
          </a:p>
        </p:txBody>
      </p:sp>
      <p:pic>
        <p:nvPicPr>
          <p:cNvPr id="13" name="内容占位符 12" descr="图形用户界面, 文本&#10;&#10;AI 生成的内容可能不正确。">
            <a:extLst>
              <a:ext uri="{FF2B5EF4-FFF2-40B4-BE49-F238E27FC236}">
                <a16:creationId xmlns:a16="http://schemas.microsoft.com/office/drawing/2014/main" id="{D1808151-0365-1D82-7789-6B0FF9A5CF8E}"/>
              </a:ext>
            </a:extLst>
          </p:cNvPr>
          <p:cNvPicPr>
            <a:picLocks noGrp="1" noChangeAspect="1"/>
          </p:cNvPicPr>
          <p:nvPr>
            <p:ph idx="1"/>
          </p:nvPr>
        </p:nvPicPr>
        <p:blipFill>
          <a:blip r:embed="rId2"/>
          <a:stretch>
            <a:fillRect/>
          </a:stretch>
        </p:blipFill>
        <p:spPr>
          <a:xfrm>
            <a:off x="838200" y="2286824"/>
            <a:ext cx="3894169" cy="1658044"/>
          </a:xfrm>
          <a:prstGeom prst="rect">
            <a:avLst/>
          </a:prstGeom>
        </p:spPr>
      </p:pic>
      <p:pic>
        <p:nvPicPr>
          <p:cNvPr id="15" name="图片 14" descr="屏幕上有字&#10;&#10;AI 生成的内容可能不正确。">
            <a:extLst>
              <a:ext uri="{FF2B5EF4-FFF2-40B4-BE49-F238E27FC236}">
                <a16:creationId xmlns:a16="http://schemas.microsoft.com/office/drawing/2014/main" id="{8E7742D6-7E57-AFA2-F522-44FF43DDC36C}"/>
              </a:ext>
            </a:extLst>
          </p:cNvPr>
          <p:cNvPicPr>
            <a:picLocks noChangeAspect="1"/>
          </p:cNvPicPr>
          <p:nvPr/>
        </p:nvPicPr>
        <p:blipFill>
          <a:blip r:embed="rId3"/>
          <a:stretch>
            <a:fillRect/>
          </a:stretch>
        </p:blipFill>
        <p:spPr>
          <a:xfrm>
            <a:off x="838200" y="4815704"/>
            <a:ext cx="4074619" cy="1602195"/>
          </a:xfrm>
          <a:prstGeom prst="rect">
            <a:avLst/>
          </a:prstGeom>
        </p:spPr>
      </p:pic>
      <p:pic>
        <p:nvPicPr>
          <p:cNvPr id="17" name="图片 16" descr="文本&#10;&#10;AI 生成的内容可能不正确。">
            <a:extLst>
              <a:ext uri="{FF2B5EF4-FFF2-40B4-BE49-F238E27FC236}">
                <a16:creationId xmlns:a16="http://schemas.microsoft.com/office/drawing/2014/main" id="{81AB1981-EE24-3530-3A27-00275E0046CB}"/>
              </a:ext>
            </a:extLst>
          </p:cNvPr>
          <p:cNvPicPr>
            <a:picLocks noChangeAspect="1"/>
          </p:cNvPicPr>
          <p:nvPr/>
        </p:nvPicPr>
        <p:blipFill>
          <a:blip r:embed="rId4"/>
          <a:stretch>
            <a:fillRect/>
          </a:stretch>
        </p:blipFill>
        <p:spPr>
          <a:xfrm>
            <a:off x="6421820" y="2286824"/>
            <a:ext cx="5449583" cy="4131075"/>
          </a:xfrm>
          <a:prstGeom prst="rect">
            <a:avLst/>
          </a:prstGeom>
        </p:spPr>
      </p:pic>
      <p:sp>
        <p:nvSpPr>
          <p:cNvPr id="18" name="文本框 17">
            <a:extLst>
              <a:ext uri="{FF2B5EF4-FFF2-40B4-BE49-F238E27FC236}">
                <a16:creationId xmlns:a16="http://schemas.microsoft.com/office/drawing/2014/main" id="{79AE912D-D278-147F-FCF8-E435DE2AA46A}"/>
              </a:ext>
            </a:extLst>
          </p:cNvPr>
          <p:cNvSpPr txBox="1"/>
          <p:nvPr/>
        </p:nvSpPr>
        <p:spPr>
          <a:xfrm>
            <a:off x="6421820" y="1205953"/>
            <a:ext cx="4931980" cy="1015663"/>
          </a:xfrm>
          <a:prstGeom prst="rect">
            <a:avLst/>
          </a:prstGeom>
          <a:noFill/>
        </p:spPr>
        <p:txBody>
          <a:bodyPr wrap="square" rtlCol="0">
            <a:spAutoFit/>
          </a:bodyPr>
          <a:lstStyle/>
          <a:p>
            <a:r>
              <a:rPr lang="en-US" altLang="zh-CN" sz="2000" dirty="0">
                <a:latin typeface="宋体" panose="02010600030101010101" pitchFamily="2" charset="-122"/>
                <a:ea typeface="宋体" panose="02010600030101010101" pitchFamily="2" charset="-122"/>
              </a:rPr>
              <a:t>3.</a:t>
            </a:r>
            <a:r>
              <a:rPr lang="zh-CN" altLang="en-US" sz="2000" dirty="0">
                <a:latin typeface="宋体" panose="02010600030101010101" pitchFamily="2" charset="-122"/>
                <a:ea typeface="宋体" panose="02010600030101010101" pitchFamily="2" charset="-122"/>
              </a:rPr>
              <a:t>生成的报告严格按照的</a:t>
            </a:r>
            <a:r>
              <a:rPr lang="en-US" altLang="zh-CN" sz="2000" dirty="0">
                <a:latin typeface="宋体" panose="02010600030101010101" pitchFamily="2" charset="-122"/>
                <a:ea typeface="宋体" panose="02010600030101010101" pitchFamily="2" charset="-122"/>
              </a:rPr>
              <a:t>Prompt</a:t>
            </a:r>
            <a:r>
              <a:rPr lang="zh-CN" altLang="en-US" sz="2000" dirty="0">
                <a:latin typeface="宋体" panose="02010600030101010101" pitchFamily="2" charset="-122"/>
                <a:ea typeface="宋体" panose="02010600030101010101" pitchFamily="2" charset="-122"/>
              </a:rPr>
              <a:t>框架，输出了趋势概述、关键点位、风险提示和操作建议四个维度。</a:t>
            </a:r>
          </a:p>
        </p:txBody>
      </p:sp>
    </p:spTree>
    <p:extLst>
      <p:ext uri="{BB962C8B-B14F-4D97-AF65-F5344CB8AC3E}">
        <p14:creationId xmlns:p14="http://schemas.microsoft.com/office/powerpoint/2010/main" val="294639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487CD84-FA76-1E1B-109E-4EADFA68F1D7}"/>
              </a:ext>
            </a:extLst>
          </p:cNvPr>
          <p:cNvSpPr txBox="1"/>
          <p:nvPr/>
        </p:nvSpPr>
        <p:spPr>
          <a:xfrm>
            <a:off x="1043677" y="783020"/>
            <a:ext cx="2885090" cy="2862322"/>
          </a:xfrm>
          <a:prstGeom prst="rect">
            <a:avLst/>
          </a:prstGeom>
          <a:noFill/>
        </p:spPr>
        <p:txBody>
          <a:bodyPr wrap="square" rtlCol="0">
            <a:spAutoFit/>
          </a:bodyPr>
          <a:lstStyle/>
          <a:p>
            <a:r>
              <a:rPr lang="en-US" altLang="zh-CN" sz="2000" dirty="0">
                <a:latin typeface="宋体" panose="02010600030101010101" pitchFamily="2" charset="-122"/>
                <a:ea typeface="宋体" panose="02010600030101010101" pitchFamily="2" charset="-122"/>
              </a:rPr>
              <a:t>4.</a:t>
            </a:r>
            <a:r>
              <a:rPr lang="zh-CN" altLang="en-US" sz="2000" dirty="0">
                <a:latin typeface="宋体" panose="02010600030101010101" pitchFamily="2" charset="-122"/>
                <a:ea typeface="宋体" panose="02010600030101010101" pitchFamily="2" charset="-122"/>
              </a:rPr>
              <a:t>项目已脱离本地开发环境，成功完成</a:t>
            </a:r>
            <a:r>
              <a:rPr lang="en-US" altLang="zh-CN" sz="2000" dirty="0">
                <a:latin typeface="宋体" panose="02010600030101010101" pitchFamily="2" charset="-122"/>
                <a:ea typeface="宋体" panose="02010600030101010101" pitchFamily="2" charset="-122"/>
              </a:rPr>
              <a:t>Server-less</a:t>
            </a:r>
            <a:r>
              <a:rPr lang="zh-CN" altLang="en-US" sz="2000" dirty="0">
                <a:latin typeface="宋体" panose="02010600030101010101" pitchFamily="2" charset="-122"/>
                <a:ea typeface="宋体" panose="02010600030101010101" pitchFamily="2" charset="-122"/>
              </a:rPr>
              <a:t>云端部署。通过双端兼容的环境变量注入机制，彻底解决了云端的 </a:t>
            </a:r>
            <a:r>
              <a:rPr lang="en-US" altLang="zh-CN" sz="2000" dirty="0">
                <a:latin typeface="宋体" panose="02010600030101010101" pitchFamily="2" charset="-122"/>
                <a:ea typeface="宋体" panose="02010600030101010101" pitchFamily="2" charset="-122"/>
              </a:rPr>
              <a:t>API </a:t>
            </a:r>
            <a:r>
              <a:rPr lang="zh-CN" altLang="en-US" sz="2000" dirty="0">
                <a:latin typeface="宋体" panose="02010600030101010101" pitchFamily="2" charset="-122"/>
                <a:ea typeface="宋体" panose="02010600030101010101" pitchFamily="2" charset="-122"/>
              </a:rPr>
              <a:t>密钥读取异常，目前应用具备了高可用、随时可访问的微应用产品级形态。</a:t>
            </a:r>
          </a:p>
        </p:txBody>
      </p:sp>
      <p:pic>
        <p:nvPicPr>
          <p:cNvPr id="4" name="图片 3" descr="文本&#10;&#10;AI 生成的内容可能不正确。">
            <a:extLst>
              <a:ext uri="{FF2B5EF4-FFF2-40B4-BE49-F238E27FC236}">
                <a16:creationId xmlns:a16="http://schemas.microsoft.com/office/drawing/2014/main" id="{B81A32EC-A428-3CDF-3514-DF590B8138CC}"/>
              </a:ext>
            </a:extLst>
          </p:cNvPr>
          <p:cNvPicPr>
            <a:picLocks noChangeAspect="1"/>
          </p:cNvPicPr>
          <p:nvPr/>
        </p:nvPicPr>
        <p:blipFill>
          <a:blip r:embed="rId2"/>
          <a:stretch>
            <a:fillRect/>
          </a:stretch>
        </p:blipFill>
        <p:spPr>
          <a:xfrm>
            <a:off x="4275783" y="783020"/>
            <a:ext cx="6872540" cy="4160763"/>
          </a:xfrm>
          <a:prstGeom prst="rect">
            <a:avLst/>
          </a:prstGeom>
        </p:spPr>
      </p:pic>
      <p:sp>
        <p:nvSpPr>
          <p:cNvPr id="5" name="文本框 4">
            <a:extLst>
              <a:ext uri="{FF2B5EF4-FFF2-40B4-BE49-F238E27FC236}">
                <a16:creationId xmlns:a16="http://schemas.microsoft.com/office/drawing/2014/main" id="{88973B1C-F017-22E3-A496-A4B8B6649F97}"/>
              </a:ext>
            </a:extLst>
          </p:cNvPr>
          <p:cNvSpPr txBox="1"/>
          <p:nvPr/>
        </p:nvSpPr>
        <p:spPr>
          <a:xfrm>
            <a:off x="1043677" y="5376041"/>
            <a:ext cx="9546203" cy="400110"/>
          </a:xfrm>
          <a:prstGeom prst="rect">
            <a:avLst/>
          </a:prstGeom>
          <a:noFill/>
        </p:spPr>
        <p:txBody>
          <a:bodyPr wrap="none" rtlCol="0">
            <a:spAutoFit/>
          </a:bodyPr>
          <a:lstStyle/>
          <a:p>
            <a:r>
              <a:rPr lang="zh-CN" altLang="en-US" sz="2000" dirty="0">
                <a:latin typeface="宋体" panose="02010600030101010101" pitchFamily="2" charset="-122"/>
                <a:ea typeface="宋体" panose="02010600030101010101" pitchFamily="2" charset="-122"/>
              </a:rPr>
              <a:t>公网链接：</a:t>
            </a:r>
            <a:r>
              <a:rPr lang="en-US" altLang="zh-CN" sz="2000" dirty="0">
                <a:latin typeface="宋体" panose="02010600030101010101" pitchFamily="2" charset="-122"/>
                <a:ea typeface="宋体" panose="02010600030101010101" pitchFamily="2" charset="-122"/>
              </a:rPr>
              <a:t>https://minstock-analyzer-8ehuoc2fp3ayp42qnxmvn2.streamlit.app/</a:t>
            </a:r>
            <a:endParaRPr lang="zh-CN" altLang="en-US" sz="20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801998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90B9E0-75CE-B588-8D0A-18F1B6834AF1}"/>
              </a:ext>
            </a:extLst>
          </p:cNvPr>
          <p:cNvSpPr>
            <a:spLocks noGrp="1"/>
          </p:cNvSpPr>
          <p:nvPr>
            <p:ph type="title"/>
          </p:nvPr>
        </p:nvSpPr>
        <p:spPr/>
        <p:txBody>
          <a:bodyPr/>
          <a:lstStyle/>
          <a:p>
            <a:r>
              <a:rPr lang="zh-CN" altLang="en-US" b="1" dirty="0">
                <a:latin typeface="宋体" panose="02010600030101010101" pitchFamily="2" charset="-122"/>
                <a:ea typeface="宋体" panose="02010600030101010101" pitchFamily="2" charset="-122"/>
              </a:rPr>
              <a:t>核心技术栈</a:t>
            </a:r>
          </a:p>
        </p:txBody>
      </p:sp>
      <p:sp>
        <p:nvSpPr>
          <p:cNvPr id="3" name="内容占位符 2">
            <a:extLst>
              <a:ext uri="{FF2B5EF4-FFF2-40B4-BE49-F238E27FC236}">
                <a16:creationId xmlns:a16="http://schemas.microsoft.com/office/drawing/2014/main" id="{C1257EAB-2692-9BF4-A5B9-E18F3DF808E6}"/>
              </a:ext>
            </a:extLst>
          </p:cNvPr>
          <p:cNvSpPr>
            <a:spLocks noGrp="1"/>
          </p:cNvSpPr>
          <p:nvPr>
            <p:ph idx="1"/>
          </p:nvPr>
        </p:nvSpPr>
        <p:spPr/>
        <p:txBody>
          <a:bodyPr/>
          <a:lstStyle/>
          <a:p>
            <a:pPr marL="0" indent="0">
              <a:buNone/>
            </a:pPr>
            <a:r>
              <a:rPr lang="zh-CN" altLang="en-US" dirty="0">
                <a:latin typeface="宋体" panose="02010600030101010101" pitchFamily="2" charset="-122"/>
                <a:ea typeface="宋体" panose="02010600030101010101" pitchFamily="2" charset="-122"/>
              </a:rPr>
              <a:t>用户输入代码</a:t>
            </a:r>
            <a:r>
              <a:rPr lang="en-US" altLang="zh-CN" dirty="0">
                <a:latin typeface="宋体" panose="02010600030101010101" pitchFamily="2" charset="-122"/>
                <a:ea typeface="宋体" panose="02010600030101010101" pitchFamily="2" charset="-122"/>
              </a:rPr>
              <a:t>-&gt; </a:t>
            </a:r>
            <a:r>
              <a:rPr lang="zh-CN" altLang="en-US" dirty="0">
                <a:latin typeface="宋体" panose="02010600030101010101" pitchFamily="2" charset="-122"/>
                <a:ea typeface="宋体" panose="02010600030101010101" pitchFamily="2" charset="-122"/>
              </a:rPr>
              <a:t>后端抓取</a:t>
            </a:r>
            <a:r>
              <a:rPr lang="en-US" altLang="zh-CN" dirty="0">
                <a:latin typeface="宋体" panose="02010600030101010101" pitchFamily="2" charset="-122"/>
                <a:ea typeface="宋体" panose="02010600030101010101" pitchFamily="2" charset="-122"/>
              </a:rPr>
              <a:t>-&gt;</a:t>
            </a:r>
            <a:r>
              <a:rPr lang="zh-CN" altLang="en-US" dirty="0">
                <a:latin typeface="宋体" panose="02010600030101010101" pitchFamily="2" charset="-122"/>
                <a:ea typeface="宋体" panose="02010600030101010101" pitchFamily="2" charset="-122"/>
              </a:rPr>
              <a:t>拼接 </a:t>
            </a:r>
            <a:r>
              <a:rPr lang="en-US" altLang="zh-CN" dirty="0">
                <a:latin typeface="宋体" panose="02010600030101010101" pitchFamily="2" charset="-122"/>
                <a:ea typeface="宋体" panose="02010600030101010101" pitchFamily="2" charset="-122"/>
              </a:rPr>
              <a:t>Prompt-&gt;</a:t>
            </a:r>
            <a:r>
              <a:rPr lang="zh-CN" altLang="en-US" dirty="0">
                <a:latin typeface="宋体" panose="02010600030101010101" pitchFamily="2" charset="-122"/>
                <a:ea typeface="宋体" panose="02010600030101010101" pitchFamily="2" charset="-122"/>
              </a:rPr>
              <a:t>大模型</a:t>
            </a:r>
            <a:r>
              <a:rPr lang="en-US" altLang="zh-CN" dirty="0">
                <a:latin typeface="宋体" panose="02010600030101010101" pitchFamily="2" charset="-122"/>
                <a:ea typeface="宋体" panose="02010600030101010101" pitchFamily="2" charset="-122"/>
              </a:rPr>
              <a:t>-&gt;</a:t>
            </a:r>
            <a:r>
              <a:rPr lang="zh-CN" altLang="en-US" dirty="0">
                <a:latin typeface="宋体" panose="02010600030101010101" pitchFamily="2" charset="-122"/>
                <a:ea typeface="宋体" panose="02010600030101010101" pitchFamily="2" charset="-122"/>
              </a:rPr>
              <a:t>前端展示</a:t>
            </a:r>
          </a:p>
          <a:p>
            <a:pPr marL="0" indent="0">
              <a:buNone/>
            </a:pP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前端交互：</a:t>
            </a:r>
            <a:r>
              <a:rPr lang="en-US" altLang="zh-CN" dirty="0" err="1">
                <a:latin typeface="宋体" panose="02010600030101010101" pitchFamily="2" charset="-122"/>
                <a:ea typeface="宋体" panose="02010600030101010101" pitchFamily="2" charset="-122"/>
              </a:rPr>
              <a:t>Streamlit</a:t>
            </a:r>
            <a:r>
              <a:rPr lang="zh-CN" altLang="en-US" dirty="0">
                <a:latin typeface="宋体" panose="02010600030101010101" pitchFamily="2" charset="-122"/>
                <a:ea typeface="宋体" panose="02010600030101010101" pitchFamily="2" charset="-122"/>
              </a:rPr>
              <a:t>（实现轻量级、响应式的数据与文本渲染）</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数据抓取：</a:t>
            </a:r>
            <a:r>
              <a:rPr lang="en-US" altLang="zh-CN" dirty="0" err="1">
                <a:latin typeface="宋体" panose="02010600030101010101" pitchFamily="2" charset="-122"/>
                <a:ea typeface="宋体" panose="02010600030101010101" pitchFamily="2" charset="-122"/>
              </a:rPr>
              <a:t>akshare</a:t>
            </a:r>
            <a:r>
              <a:rPr lang="zh-CN" altLang="en-US" dirty="0">
                <a:latin typeface="宋体" panose="02010600030101010101" pitchFamily="2" charset="-122"/>
                <a:ea typeface="宋体" panose="02010600030101010101" pitchFamily="2" charset="-122"/>
              </a:rPr>
              <a:t>（开源金融数据接口）。</a:t>
            </a:r>
            <a:endParaRPr lang="en-US" altLang="zh-CN" dirty="0">
              <a:latin typeface="宋体" panose="02010600030101010101" pitchFamily="2" charset="-122"/>
              <a:ea typeface="宋体" panose="02010600030101010101" pitchFamily="2" charset="-122"/>
            </a:endParaRPr>
          </a:p>
          <a:p>
            <a:r>
              <a:rPr lang="en-US" altLang="zh-CN" dirty="0">
                <a:latin typeface="宋体" panose="02010600030101010101" pitchFamily="2" charset="-122"/>
                <a:ea typeface="宋体" panose="02010600030101010101" pitchFamily="2" charset="-122"/>
              </a:rPr>
              <a:t>AI</a:t>
            </a:r>
            <a:r>
              <a:rPr lang="zh-CN" altLang="en-US" dirty="0">
                <a:latin typeface="宋体" panose="02010600030101010101" pitchFamily="2" charset="-122"/>
                <a:ea typeface="宋体" panose="02010600030101010101" pitchFamily="2" charset="-122"/>
              </a:rPr>
              <a:t>引擎：</a:t>
            </a:r>
            <a:r>
              <a:rPr lang="en-US" altLang="zh-CN" dirty="0" err="1">
                <a:latin typeface="宋体" panose="02010600030101010101" pitchFamily="2" charset="-122"/>
                <a:ea typeface="宋体" panose="02010600030101010101" pitchFamily="2" charset="-122"/>
              </a:rPr>
              <a:t>Zhipu</a:t>
            </a:r>
            <a:r>
              <a:rPr lang="en-US" altLang="zh-CN" dirty="0">
                <a:latin typeface="宋体" panose="02010600030101010101" pitchFamily="2" charset="-122"/>
                <a:ea typeface="宋体" panose="02010600030101010101" pitchFamily="2" charset="-122"/>
              </a:rPr>
              <a:t> AI(GLM-4 </a:t>
            </a:r>
            <a:r>
              <a:rPr lang="zh-CN" altLang="en-US" dirty="0">
                <a:latin typeface="宋体" panose="02010600030101010101" pitchFamily="2" charset="-122"/>
                <a:ea typeface="宋体" panose="02010600030101010101" pitchFamily="2" charset="-122"/>
              </a:rPr>
              <a:t>模型，通过标准的</a:t>
            </a:r>
            <a:r>
              <a:rPr lang="en-US" altLang="zh-CN" dirty="0" err="1">
                <a:latin typeface="宋体" panose="02010600030101010101" pitchFamily="2" charset="-122"/>
                <a:ea typeface="宋体" panose="02010600030101010101" pitchFamily="2" charset="-122"/>
              </a:rPr>
              <a:t>openai</a:t>
            </a:r>
            <a:r>
              <a:rPr lang="zh-CN" altLang="en-US" dirty="0">
                <a:latin typeface="宋体" panose="02010600030101010101" pitchFamily="2" charset="-122"/>
                <a:ea typeface="宋体" panose="02010600030101010101" pitchFamily="2" charset="-122"/>
              </a:rPr>
              <a:t>库协议调用</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526833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18AF89-1C7A-27B2-EF62-20BD51EAA30E}"/>
              </a:ext>
            </a:extLst>
          </p:cNvPr>
          <p:cNvSpPr>
            <a:spLocks noGrp="1"/>
          </p:cNvSpPr>
          <p:nvPr>
            <p:ph type="title"/>
          </p:nvPr>
        </p:nvSpPr>
        <p:spPr/>
        <p:txBody>
          <a:bodyPr/>
          <a:lstStyle/>
          <a:p>
            <a:r>
              <a:rPr lang="zh-CN" altLang="en-US" dirty="0">
                <a:latin typeface="宋体" panose="02010600030101010101" pitchFamily="2" charset="-122"/>
                <a:ea typeface="宋体" panose="02010600030101010101" pitchFamily="2" charset="-122"/>
              </a:rPr>
              <a:t>亮点一：数据源切换</a:t>
            </a:r>
          </a:p>
        </p:txBody>
      </p:sp>
      <p:sp>
        <p:nvSpPr>
          <p:cNvPr id="3" name="内容占位符 2">
            <a:extLst>
              <a:ext uri="{FF2B5EF4-FFF2-40B4-BE49-F238E27FC236}">
                <a16:creationId xmlns:a16="http://schemas.microsoft.com/office/drawing/2014/main" id="{088AD410-0A91-E699-3E46-39F9D52F07CB}"/>
              </a:ext>
            </a:extLst>
          </p:cNvPr>
          <p:cNvSpPr>
            <a:spLocks noGrp="1"/>
          </p:cNvSpPr>
          <p:nvPr>
            <p:ph idx="1"/>
          </p:nvPr>
        </p:nvSpPr>
        <p:spPr/>
        <p:txBody>
          <a:bodyPr/>
          <a:lstStyle/>
          <a:p>
            <a:pPr marL="0" indent="0">
              <a:buNone/>
            </a:pPr>
            <a:r>
              <a:rPr lang="zh-CN" altLang="en-US" b="1" dirty="0">
                <a:latin typeface="宋体" panose="02010600030101010101" pitchFamily="2" charset="-122"/>
                <a:ea typeface="宋体" panose="02010600030101010101" pitchFamily="2" charset="-122"/>
              </a:rPr>
              <a:t>    在数据源获取阶段，设计了灵活的切换与适配逻辑，有效应对了真实网络环境下的反爬虫与网络阻断策略。</a:t>
            </a:r>
            <a:endParaRPr lang="en-US" altLang="zh-CN" b="1" dirty="0">
              <a:latin typeface="宋体" panose="02010600030101010101" pitchFamily="2" charset="-122"/>
              <a:ea typeface="宋体" panose="02010600030101010101" pitchFamily="2" charset="-122"/>
            </a:endParaRPr>
          </a:p>
          <a:p>
            <a:pPr marL="0" indent="0">
              <a:buNone/>
            </a:pPr>
            <a:endParaRPr lang="en-US" altLang="zh-CN" b="1" dirty="0">
              <a:latin typeface="宋体" panose="02010600030101010101" pitchFamily="2" charset="-122"/>
              <a:ea typeface="宋体" panose="02010600030101010101" pitchFamily="2" charset="-122"/>
            </a:endParaRPr>
          </a:p>
          <a:p>
            <a:pPr marL="0" indent="0">
              <a:buNone/>
            </a:pPr>
            <a:r>
              <a:rPr lang="zh-CN" altLang="en-US" dirty="0">
                <a:latin typeface="宋体" panose="02010600030101010101" pitchFamily="2" charset="-122"/>
                <a:ea typeface="宋体" panose="02010600030101010101" pitchFamily="2" charset="-122"/>
              </a:rPr>
              <a:t>技术支撑：</a:t>
            </a:r>
          </a:p>
          <a:p>
            <a:r>
              <a:rPr lang="zh-CN" altLang="en-US" dirty="0">
                <a:latin typeface="宋体" panose="02010600030101010101" pitchFamily="2" charset="-122"/>
                <a:ea typeface="宋体" panose="02010600030101010101" pitchFamily="2" charset="-122"/>
              </a:rPr>
              <a:t>面对默认数据源（东方财富）的</a:t>
            </a:r>
            <a:r>
              <a:rPr lang="en-US" altLang="zh-CN" dirty="0">
                <a:latin typeface="宋体" panose="02010600030101010101" pitchFamily="2" charset="-122"/>
                <a:ea typeface="宋体" panose="02010600030101010101" pitchFamily="2" charset="-122"/>
              </a:rPr>
              <a:t>403</a:t>
            </a:r>
            <a:r>
              <a:rPr lang="zh-CN" altLang="en-US" dirty="0">
                <a:latin typeface="宋体" panose="02010600030101010101" pitchFamily="2" charset="-122"/>
                <a:ea typeface="宋体" panose="02010600030101010101" pitchFamily="2" charset="-122"/>
              </a:rPr>
              <a:t>拒绝访问和连接超时，能够在代码逻辑层快速将底层接口切换为备用数据源（新浪财经）。</a:t>
            </a:r>
          </a:p>
          <a:p>
            <a:r>
              <a:rPr lang="zh-CN" altLang="en-US" dirty="0">
                <a:latin typeface="宋体" panose="02010600030101010101" pitchFamily="2" charset="-122"/>
                <a:ea typeface="宋体" panose="02010600030101010101" pitchFamily="2" charset="-122"/>
              </a:rPr>
              <a:t>针对不同数据源的传参差异，编写了动态的沪深两市代码前缀（</a:t>
            </a:r>
            <a:r>
              <a:rPr lang="en-US" altLang="zh-CN" dirty="0" err="1">
                <a:latin typeface="宋体" panose="02010600030101010101" pitchFamily="2" charset="-122"/>
                <a:ea typeface="宋体" panose="02010600030101010101" pitchFamily="2" charset="-122"/>
              </a:rPr>
              <a:t>sh</a:t>
            </a:r>
            <a:r>
              <a:rPr lang="en-US" altLang="zh-CN" dirty="0">
                <a:latin typeface="宋体" panose="02010600030101010101" pitchFamily="2" charset="-122"/>
                <a:ea typeface="宋体" panose="02010600030101010101" pitchFamily="2" charset="-122"/>
              </a:rPr>
              <a:t>/</a:t>
            </a:r>
            <a:r>
              <a:rPr lang="en-US" altLang="zh-CN" dirty="0" err="1">
                <a:latin typeface="宋体" panose="02010600030101010101" pitchFamily="2" charset="-122"/>
                <a:ea typeface="宋体" panose="02010600030101010101" pitchFamily="2" charset="-122"/>
              </a:rPr>
              <a:t>sz</a:t>
            </a:r>
            <a:r>
              <a:rPr lang="zh-CN" altLang="en-US" dirty="0">
                <a:latin typeface="宋体" panose="02010600030101010101" pitchFamily="2" charset="-122"/>
                <a:ea typeface="宋体" panose="02010600030101010101" pitchFamily="2" charset="-122"/>
              </a:rPr>
              <a:t>）补全算法，并对原始英文列名进行了中文化映射，保证了下游数据流的规范统一。</a:t>
            </a:r>
          </a:p>
          <a:p>
            <a:endParaRPr lang="zh-CN" altLang="en-US" dirty="0"/>
          </a:p>
        </p:txBody>
      </p:sp>
    </p:spTree>
    <p:extLst>
      <p:ext uri="{BB962C8B-B14F-4D97-AF65-F5344CB8AC3E}">
        <p14:creationId xmlns:p14="http://schemas.microsoft.com/office/powerpoint/2010/main" val="417444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9A6E632-C006-9095-ECD5-AB85E0DACF78}"/>
              </a:ext>
            </a:extLst>
          </p:cNvPr>
          <p:cNvPicPr>
            <a:picLocks noChangeAspect="1"/>
          </p:cNvPicPr>
          <p:nvPr/>
        </p:nvPicPr>
        <p:blipFill>
          <a:blip r:embed="rId2"/>
          <a:stretch>
            <a:fillRect/>
          </a:stretch>
        </p:blipFill>
        <p:spPr>
          <a:xfrm>
            <a:off x="1386827" y="367660"/>
            <a:ext cx="9418347" cy="4923658"/>
          </a:xfrm>
          <a:prstGeom prst="rect">
            <a:avLst/>
          </a:prstGeom>
        </p:spPr>
      </p:pic>
      <p:pic>
        <p:nvPicPr>
          <p:cNvPr id="5" name="图片 4">
            <a:extLst>
              <a:ext uri="{FF2B5EF4-FFF2-40B4-BE49-F238E27FC236}">
                <a16:creationId xmlns:a16="http://schemas.microsoft.com/office/drawing/2014/main" id="{0CB570EF-D339-D2D5-C6AB-95F46CB04FAA}"/>
              </a:ext>
            </a:extLst>
          </p:cNvPr>
          <p:cNvPicPr>
            <a:picLocks noChangeAspect="1"/>
          </p:cNvPicPr>
          <p:nvPr/>
        </p:nvPicPr>
        <p:blipFill>
          <a:blip r:embed="rId3"/>
          <a:stretch>
            <a:fillRect/>
          </a:stretch>
        </p:blipFill>
        <p:spPr>
          <a:xfrm>
            <a:off x="1386827" y="5291318"/>
            <a:ext cx="9418347" cy="1072349"/>
          </a:xfrm>
          <a:prstGeom prst="rect">
            <a:avLst/>
          </a:prstGeom>
        </p:spPr>
      </p:pic>
    </p:spTree>
    <p:extLst>
      <p:ext uri="{BB962C8B-B14F-4D97-AF65-F5344CB8AC3E}">
        <p14:creationId xmlns:p14="http://schemas.microsoft.com/office/powerpoint/2010/main" val="16742642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B1D4DE-D207-6783-C7E5-C7BD494DF4FB}"/>
              </a:ext>
            </a:extLst>
          </p:cNvPr>
          <p:cNvSpPr>
            <a:spLocks noGrp="1"/>
          </p:cNvSpPr>
          <p:nvPr>
            <p:ph type="title"/>
          </p:nvPr>
        </p:nvSpPr>
        <p:spPr/>
        <p:txBody>
          <a:bodyPr/>
          <a:lstStyle/>
          <a:p>
            <a:r>
              <a:rPr lang="zh-CN" altLang="en-US" dirty="0">
                <a:latin typeface="宋体" panose="02010600030101010101" pitchFamily="2" charset="-122"/>
                <a:ea typeface="宋体" panose="02010600030101010101" pitchFamily="2" charset="-122"/>
              </a:rPr>
              <a:t>亮点二：数据驱动的大模型应用实践</a:t>
            </a:r>
          </a:p>
        </p:txBody>
      </p:sp>
      <p:sp>
        <p:nvSpPr>
          <p:cNvPr id="3" name="内容占位符 2">
            <a:extLst>
              <a:ext uri="{FF2B5EF4-FFF2-40B4-BE49-F238E27FC236}">
                <a16:creationId xmlns:a16="http://schemas.microsoft.com/office/drawing/2014/main" id="{33B1FACA-E386-0757-8521-76E67E78E0E0}"/>
              </a:ext>
            </a:extLst>
          </p:cNvPr>
          <p:cNvSpPr>
            <a:spLocks noGrp="1"/>
          </p:cNvSpPr>
          <p:nvPr>
            <p:ph idx="1"/>
          </p:nvPr>
        </p:nvSpPr>
        <p:spPr/>
        <p:txBody>
          <a:bodyPr/>
          <a:lstStyle/>
          <a:p>
            <a:pPr marL="0" indent="0">
              <a:buNone/>
            </a:pPr>
            <a:r>
              <a:rPr lang="zh-CN" altLang="en-US" b="1" dirty="0">
                <a:latin typeface="宋体" panose="02010600030101010101" pitchFamily="2" charset="-122"/>
                <a:ea typeface="宋体" panose="02010600030101010101" pitchFamily="2" charset="-122"/>
              </a:rPr>
              <a:t>    实现了基于真实业务数据的动态提示词拼接，有效抑制了大模型的“幻觉”问题。</a:t>
            </a:r>
            <a:endParaRPr lang="en-US" altLang="zh-CN" b="1" dirty="0">
              <a:latin typeface="宋体" panose="02010600030101010101" pitchFamily="2" charset="-122"/>
              <a:ea typeface="宋体" panose="02010600030101010101" pitchFamily="2" charset="-122"/>
            </a:endParaRPr>
          </a:p>
          <a:p>
            <a:pPr marL="0" indent="0">
              <a:buNone/>
            </a:pPr>
            <a:endParaRPr lang="en-US" altLang="zh-CN" b="1" dirty="0">
              <a:latin typeface="宋体" panose="02010600030101010101" pitchFamily="2" charset="-122"/>
              <a:ea typeface="宋体" panose="02010600030101010101" pitchFamily="2" charset="-122"/>
            </a:endParaRPr>
          </a:p>
          <a:p>
            <a:pPr marL="0" indent="0">
              <a:buNone/>
            </a:pPr>
            <a:r>
              <a:rPr lang="zh-CN" altLang="en-US" dirty="0">
                <a:latin typeface="宋体" panose="02010600030101010101" pitchFamily="2" charset="-122"/>
                <a:ea typeface="宋体" panose="02010600030101010101" pitchFamily="2" charset="-122"/>
              </a:rPr>
              <a:t>技术支撑：</a:t>
            </a:r>
          </a:p>
          <a:p>
            <a:r>
              <a:rPr lang="zh-CN" altLang="en-US" dirty="0">
                <a:latin typeface="宋体" panose="02010600030101010101" pitchFamily="2" charset="-122"/>
                <a:ea typeface="宋体" panose="02010600030101010101" pitchFamily="2" charset="-122"/>
              </a:rPr>
              <a:t>在 </a:t>
            </a:r>
            <a:r>
              <a:rPr lang="en-US" altLang="zh-CN" dirty="0">
                <a:latin typeface="宋体" panose="02010600030101010101" pitchFamily="2" charset="-122"/>
                <a:ea typeface="宋体" panose="02010600030101010101" pitchFamily="2" charset="-122"/>
              </a:rPr>
              <a:t>analyzer.py</a:t>
            </a:r>
            <a:r>
              <a:rPr lang="zh-CN" altLang="en-US" dirty="0">
                <a:latin typeface="宋体" panose="02010600030101010101" pitchFamily="2" charset="-122"/>
                <a:ea typeface="宋体" panose="02010600030101010101" pitchFamily="2" charset="-122"/>
              </a:rPr>
              <a:t> 中，编写了将</a:t>
            </a:r>
            <a:r>
              <a:rPr lang="en-US" altLang="zh-CN" dirty="0">
                <a:latin typeface="宋体" panose="02010600030101010101" pitchFamily="2" charset="-122"/>
                <a:ea typeface="宋体" panose="02010600030101010101" pitchFamily="2" charset="-122"/>
              </a:rPr>
              <a:t>Pandas </a:t>
            </a:r>
            <a:r>
              <a:rPr lang="en-US" altLang="zh-CN" dirty="0" err="1">
                <a:latin typeface="宋体" panose="02010600030101010101" pitchFamily="2" charset="-122"/>
                <a:ea typeface="宋体" panose="02010600030101010101" pitchFamily="2" charset="-122"/>
              </a:rPr>
              <a:t>DataFrame</a:t>
            </a:r>
            <a:r>
              <a:rPr lang="zh-CN" altLang="en-US" dirty="0">
                <a:latin typeface="宋体" panose="02010600030101010101" pitchFamily="2" charset="-122"/>
                <a:ea typeface="宋体" panose="02010600030101010101" pitchFamily="2" charset="-122"/>
              </a:rPr>
              <a:t>结构化数据清洗并转换为纯文本字符串的中间层代码。</a:t>
            </a:r>
          </a:p>
          <a:p>
            <a:r>
              <a:rPr lang="zh-CN" altLang="en-US" dirty="0">
                <a:latin typeface="宋体" panose="02010600030101010101" pitchFamily="2" charset="-122"/>
                <a:ea typeface="宋体" panose="02010600030101010101" pitchFamily="2" charset="-122"/>
              </a:rPr>
              <a:t>通过精准的 </a:t>
            </a:r>
            <a:r>
              <a:rPr lang="en-US" altLang="zh-CN" dirty="0">
                <a:latin typeface="宋体" panose="02010600030101010101" pitchFamily="2" charset="-122"/>
                <a:ea typeface="宋体" panose="02010600030101010101" pitchFamily="2" charset="-122"/>
              </a:rPr>
              <a:t>System Prompt </a:t>
            </a:r>
            <a:r>
              <a:rPr lang="zh-CN" altLang="en-US" dirty="0">
                <a:latin typeface="宋体" panose="02010600030101010101" pitchFamily="2" charset="-122"/>
                <a:ea typeface="宋体" panose="02010600030101010101" pitchFamily="2" charset="-122"/>
              </a:rPr>
              <a:t>约束了 </a:t>
            </a:r>
            <a:r>
              <a:rPr lang="en-US" altLang="zh-CN" dirty="0">
                <a:latin typeface="宋体" panose="02010600030101010101" pitchFamily="2" charset="-122"/>
                <a:ea typeface="宋体" panose="02010600030101010101" pitchFamily="2" charset="-122"/>
              </a:rPr>
              <a:t>AI</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GLM-4</a:t>
            </a:r>
            <a:r>
              <a:rPr lang="zh-CN" altLang="en-US" dirty="0">
                <a:latin typeface="宋体" panose="02010600030101010101" pitchFamily="2" charset="-122"/>
                <a:ea typeface="宋体" panose="02010600030101010101" pitchFamily="2" charset="-122"/>
              </a:rPr>
              <a:t>）的输出结构（趋势、点位、风险、建议），并通过调低 </a:t>
            </a:r>
            <a:r>
              <a:rPr lang="en-US" altLang="zh-CN" dirty="0">
                <a:latin typeface="宋体" panose="02010600030101010101" pitchFamily="2" charset="-122"/>
                <a:ea typeface="宋体" panose="02010600030101010101" pitchFamily="2" charset="-122"/>
              </a:rPr>
              <a:t>temperature</a:t>
            </a:r>
            <a:r>
              <a:rPr lang="zh-CN" altLang="en-US" dirty="0">
                <a:latin typeface="宋体" panose="02010600030101010101" pitchFamily="2" charset="-122"/>
                <a:ea typeface="宋体" panose="02010600030101010101" pitchFamily="2" charset="-122"/>
              </a:rPr>
              <a:t> 参数，确保了金融类输出文本的客观性和逻辑严密性。</a:t>
            </a:r>
          </a:p>
          <a:p>
            <a:endParaRPr lang="zh-CN" altLang="en-US" dirty="0"/>
          </a:p>
        </p:txBody>
      </p:sp>
    </p:spTree>
    <p:extLst>
      <p:ext uri="{BB962C8B-B14F-4D97-AF65-F5344CB8AC3E}">
        <p14:creationId xmlns:p14="http://schemas.microsoft.com/office/powerpoint/2010/main" val="1332330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文本&#10;&#10;AI 生成的内容可能不正确。">
            <a:extLst>
              <a:ext uri="{FF2B5EF4-FFF2-40B4-BE49-F238E27FC236}">
                <a16:creationId xmlns:a16="http://schemas.microsoft.com/office/drawing/2014/main" id="{40F9D013-12D2-9340-C059-33F848DF2FA3}"/>
              </a:ext>
            </a:extLst>
          </p:cNvPr>
          <p:cNvPicPr>
            <a:picLocks noChangeAspect="1"/>
          </p:cNvPicPr>
          <p:nvPr/>
        </p:nvPicPr>
        <p:blipFill>
          <a:blip r:embed="rId2"/>
          <a:stretch>
            <a:fillRect/>
          </a:stretch>
        </p:blipFill>
        <p:spPr>
          <a:xfrm>
            <a:off x="761999" y="1672029"/>
            <a:ext cx="10321159" cy="3354783"/>
          </a:xfrm>
          <a:prstGeom prst="rect">
            <a:avLst/>
          </a:prstGeom>
        </p:spPr>
      </p:pic>
    </p:spTree>
    <p:extLst>
      <p:ext uri="{BB962C8B-B14F-4D97-AF65-F5344CB8AC3E}">
        <p14:creationId xmlns:p14="http://schemas.microsoft.com/office/powerpoint/2010/main" val="1555792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1FB232-0293-EFD9-951B-3017B5425B6C}"/>
              </a:ext>
            </a:extLst>
          </p:cNvPr>
          <p:cNvSpPr>
            <a:spLocks noGrp="1"/>
          </p:cNvSpPr>
          <p:nvPr>
            <p:ph type="title"/>
          </p:nvPr>
        </p:nvSpPr>
        <p:spPr/>
        <p:txBody>
          <a:bodyPr/>
          <a:lstStyle/>
          <a:p>
            <a:r>
              <a:rPr lang="zh-CN" altLang="en-US" dirty="0">
                <a:latin typeface="宋体" panose="02010600030101010101" pitchFamily="2" charset="-122"/>
                <a:ea typeface="宋体" panose="02010600030101010101" pitchFamily="2" charset="-122"/>
              </a:rPr>
              <a:t>亮点三：密钥安全与双端兼容</a:t>
            </a:r>
          </a:p>
        </p:txBody>
      </p:sp>
      <p:sp>
        <p:nvSpPr>
          <p:cNvPr id="3" name="内容占位符 2">
            <a:extLst>
              <a:ext uri="{FF2B5EF4-FFF2-40B4-BE49-F238E27FC236}">
                <a16:creationId xmlns:a16="http://schemas.microsoft.com/office/drawing/2014/main" id="{58E61D31-9891-B420-24F2-81F93C9B33BB}"/>
              </a:ext>
            </a:extLst>
          </p:cNvPr>
          <p:cNvSpPr>
            <a:spLocks noGrp="1"/>
          </p:cNvSpPr>
          <p:nvPr>
            <p:ph idx="1"/>
          </p:nvPr>
        </p:nvSpPr>
        <p:spPr/>
        <p:txBody>
          <a:bodyPr/>
          <a:lstStyle/>
          <a:p>
            <a:pPr marL="0" indent="0">
              <a:buNone/>
            </a:pPr>
            <a:r>
              <a:rPr lang="zh-CN" altLang="en-US"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在开发过程中，代码与配置分离、环境隔离。</a:t>
            </a:r>
            <a:endParaRPr lang="en-US" altLang="zh-CN" b="1"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pPr marL="0" indent="0">
              <a:buNone/>
            </a:pPr>
            <a:r>
              <a:rPr lang="zh-CN" altLang="en-US" dirty="0">
                <a:latin typeface="宋体" panose="02010600030101010101" pitchFamily="2" charset="-122"/>
                <a:ea typeface="宋体" panose="02010600030101010101" pitchFamily="2" charset="-122"/>
              </a:rPr>
              <a:t>技术支撑：</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密钥安全隔离：本地开发采用 </a:t>
            </a:r>
            <a:r>
              <a:rPr lang="en-US" altLang="zh-CN" dirty="0">
                <a:latin typeface="宋体" panose="02010600030101010101" pitchFamily="2" charset="-122"/>
                <a:ea typeface="宋体" panose="02010600030101010101" pitchFamily="2" charset="-122"/>
              </a:rPr>
              <a:t>python-</a:t>
            </a:r>
            <a:r>
              <a:rPr lang="en-US" altLang="zh-CN" dirty="0" err="1">
                <a:latin typeface="宋体" panose="02010600030101010101" pitchFamily="2" charset="-122"/>
                <a:ea typeface="宋体" panose="02010600030101010101" pitchFamily="2" charset="-122"/>
              </a:rPr>
              <a:t>dotenv</a:t>
            </a:r>
            <a:r>
              <a:rPr lang="zh-CN" altLang="en-US" dirty="0">
                <a:latin typeface="宋体" panose="02010600030101010101" pitchFamily="2" charset="-122"/>
                <a:ea typeface="宋体" panose="02010600030101010101" pitchFamily="2" charset="-122"/>
              </a:rPr>
              <a:t> 结合 </a:t>
            </a:r>
            <a:r>
              <a:rPr lang="en-US" altLang="zh-CN" dirty="0">
                <a:latin typeface="宋体" panose="02010600030101010101" pitchFamily="2" charset="-122"/>
                <a:ea typeface="宋体" panose="02010600030101010101" pitchFamily="2" charset="-122"/>
              </a:rPr>
              <a:t>.</a:t>
            </a:r>
            <a:r>
              <a:rPr lang="en-US" altLang="zh-CN" dirty="0" err="1">
                <a:latin typeface="宋体" panose="02010600030101010101" pitchFamily="2" charset="-122"/>
                <a:ea typeface="宋体" panose="02010600030101010101" pitchFamily="2" charset="-122"/>
              </a:rPr>
              <a:t>gitignore</a:t>
            </a:r>
            <a:r>
              <a:rPr lang="zh-CN" altLang="en-US" dirty="0">
                <a:latin typeface="宋体" panose="02010600030101010101" pitchFamily="2" charset="-122"/>
                <a:ea typeface="宋体" panose="02010600030101010101" pitchFamily="2" charset="-122"/>
              </a:rPr>
              <a:t> 拦截明文 </a:t>
            </a:r>
            <a:r>
              <a:rPr lang="en-US" altLang="zh-CN" dirty="0">
                <a:latin typeface="宋体" panose="02010600030101010101" pitchFamily="2" charset="-122"/>
                <a:ea typeface="宋体" panose="02010600030101010101" pitchFamily="2" charset="-122"/>
              </a:rPr>
              <a:t>API Key </a:t>
            </a:r>
            <a:r>
              <a:rPr lang="zh-CN" altLang="en-US" dirty="0">
                <a:latin typeface="宋体" panose="02010600030101010101" pitchFamily="2" charset="-122"/>
                <a:ea typeface="宋体" panose="02010600030101010101" pitchFamily="2" charset="-122"/>
              </a:rPr>
              <a:t>上传；云端部署采用 </a:t>
            </a:r>
            <a:r>
              <a:rPr lang="en-US" altLang="zh-CN" dirty="0" err="1">
                <a:latin typeface="宋体" panose="02010600030101010101" pitchFamily="2" charset="-122"/>
                <a:ea typeface="宋体" panose="02010600030101010101" pitchFamily="2" charset="-122"/>
              </a:rPr>
              <a:t>st.secrets</a:t>
            </a:r>
            <a:r>
              <a:rPr lang="zh-CN" altLang="en-US" dirty="0">
                <a:latin typeface="宋体" panose="02010600030101010101" pitchFamily="2" charset="-122"/>
                <a:ea typeface="宋体" panose="02010600030101010101" pitchFamily="2" charset="-122"/>
              </a:rPr>
              <a:t> 注入，并编写了双端兼容的容错读取逻辑，彻底杜绝了密钥泄露风险。</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版本控制与冲突处理：使用 </a:t>
            </a:r>
            <a:r>
              <a:rPr lang="en-US" altLang="zh-CN" dirty="0">
                <a:latin typeface="宋体" panose="02010600030101010101" pitchFamily="2" charset="-122"/>
                <a:ea typeface="宋体" panose="02010600030101010101" pitchFamily="2" charset="-122"/>
              </a:rPr>
              <a:t>Git </a:t>
            </a:r>
            <a:r>
              <a:rPr lang="zh-CN" altLang="en-US" dirty="0">
                <a:latin typeface="宋体" panose="02010600030101010101" pitchFamily="2" charset="-122"/>
                <a:ea typeface="宋体" panose="02010600030101010101" pitchFamily="2" charset="-122"/>
              </a:rPr>
              <a:t>进行远程代码托管，并成功在本地终端解决了由于云端与本地记录不一致导致的分支合并（</a:t>
            </a:r>
            <a:r>
              <a:rPr lang="en-US" altLang="zh-CN" dirty="0">
                <a:latin typeface="宋体" panose="02010600030101010101" pitchFamily="2" charset="-122"/>
                <a:ea typeface="宋体" panose="02010600030101010101" pitchFamily="2" charset="-122"/>
              </a:rPr>
              <a:t>rebase</a:t>
            </a:r>
            <a:r>
              <a:rPr lang="zh-CN" altLang="en-US" dirty="0">
                <a:latin typeface="宋体" panose="02010600030101010101" pitchFamily="2" charset="-122"/>
                <a:ea typeface="宋体" panose="02010600030101010101" pitchFamily="2" charset="-122"/>
              </a:rPr>
              <a:t>）冲突问题。</a:t>
            </a:r>
          </a:p>
          <a:p>
            <a:endParaRPr lang="zh-CN" altLang="en-US" dirty="0"/>
          </a:p>
        </p:txBody>
      </p:sp>
    </p:spTree>
    <p:extLst>
      <p:ext uri="{BB962C8B-B14F-4D97-AF65-F5344CB8AC3E}">
        <p14:creationId xmlns:p14="http://schemas.microsoft.com/office/powerpoint/2010/main" val="493763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文本&#10;&#10;AI 生成的内容可能不正确。">
            <a:extLst>
              <a:ext uri="{FF2B5EF4-FFF2-40B4-BE49-F238E27FC236}">
                <a16:creationId xmlns:a16="http://schemas.microsoft.com/office/drawing/2014/main" id="{3026F2CA-5225-0338-6C3B-9D65AF49833D}"/>
              </a:ext>
            </a:extLst>
          </p:cNvPr>
          <p:cNvPicPr>
            <a:picLocks noChangeAspect="1"/>
          </p:cNvPicPr>
          <p:nvPr/>
        </p:nvPicPr>
        <p:blipFill>
          <a:blip r:embed="rId2"/>
          <a:stretch>
            <a:fillRect/>
          </a:stretch>
        </p:blipFill>
        <p:spPr>
          <a:xfrm>
            <a:off x="874986" y="1977834"/>
            <a:ext cx="10442028" cy="3032106"/>
          </a:xfrm>
          <a:prstGeom prst="rect">
            <a:avLst/>
          </a:prstGeom>
        </p:spPr>
      </p:pic>
    </p:spTree>
    <p:extLst>
      <p:ext uri="{BB962C8B-B14F-4D97-AF65-F5344CB8AC3E}">
        <p14:creationId xmlns:p14="http://schemas.microsoft.com/office/powerpoint/2010/main" val="3054400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79AD4A-68C2-CA12-0D0F-9D8020DF3A19}"/>
              </a:ext>
            </a:extLst>
          </p:cNvPr>
          <p:cNvSpPr>
            <a:spLocks noGrp="1"/>
          </p:cNvSpPr>
          <p:nvPr>
            <p:ph type="title"/>
          </p:nvPr>
        </p:nvSpPr>
        <p:spPr/>
        <p:txBody>
          <a:bodyPr/>
          <a:lstStyle/>
          <a:p>
            <a:r>
              <a:rPr lang="zh-CN" altLang="en-US" b="1" dirty="0">
                <a:latin typeface="宋体" panose="02010600030101010101" pitchFamily="2" charset="-122"/>
                <a:ea typeface="宋体" panose="02010600030101010101" pitchFamily="2" charset="-122"/>
              </a:rPr>
              <a:t>运行说明</a:t>
            </a:r>
          </a:p>
        </p:txBody>
      </p:sp>
      <p:sp>
        <p:nvSpPr>
          <p:cNvPr id="3" name="内容占位符 2">
            <a:extLst>
              <a:ext uri="{FF2B5EF4-FFF2-40B4-BE49-F238E27FC236}">
                <a16:creationId xmlns:a16="http://schemas.microsoft.com/office/drawing/2014/main" id="{63378CED-22CF-78EA-C281-BF422701E57A}"/>
              </a:ext>
            </a:extLst>
          </p:cNvPr>
          <p:cNvSpPr>
            <a:spLocks noGrp="1"/>
          </p:cNvSpPr>
          <p:nvPr>
            <p:ph idx="1"/>
          </p:nvPr>
        </p:nvSpPr>
        <p:spPr/>
        <p:txBody>
          <a:bodyPr/>
          <a:lstStyle/>
          <a:p>
            <a:pPr algn="l">
              <a:spcBef>
                <a:spcPts val="1200"/>
              </a:spcBef>
              <a:spcAft>
                <a:spcPts val="1200"/>
              </a:spcAft>
              <a:buFont typeface="+mj-lt"/>
              <a:buAutoNum type="arabicPeriod"/>
            </a:pPr>
            <a:r>
              <a:rPr lang="zh-CN" altLang="en-US" b="0" i="0" dirty="0">
                <a:effectLst/>
                <a:latin typeface="宋体" panose="02010600030101010101" pitchFamily="2" charset="-122"/>
                <a:ea typeface="宋体" panose="02010600030101010101" pitchFamily="2" charset="-122"/>
              </a:rPr>
              <a:t>克隆代码库：</a:t>
            </a:r>
            <a:r>
              <a:rPr lang="en-US" altLang="zh-CN" b="0" i="0" dirty="0">
                <a:effectLst/>
                <a:latin typeface="宋体" panose="02010600030101010101" pitchFamily="2" charset="-122"/>
                <a:ea typeface="宋体" panose="02010600030101010101" pitchFamily="2" charset="-122"/>
              </a:rPr>
              <a:t>git clone </a:t>
            </a:r>
            <a:r>
              <a:rPr lang="en-US" altLang="zh-CN" b="0" i="0" dirty="0">
                <a:effectLst/>
                <a:latin typeface="宋体" panose="02010600030101010101" pitchFamily="2" charset="-122"/>
                <a:ea typeface="宋体" panose="02010600030101010101" pitchFamily="2" charset="-122"/>
                <a:hlinkClick r:id="rId2">
                  <a:extLst>
                    <a:ext uri="{A12FA001-AC4F-418D-AE19-62706E023703}">
                      <ahyp:hlinkClr xmlns:ahyp="http://schemas.microsoft.com/office/drawing/2018/hyperlinkcolor" val="tx"/>
                    </a:ext>
                  </a:extLst>
                </a:hlinkClick>
              </a:rPr>
              <a:t>https://github.com/zhouhuimin0111-hash/MinStock-Analyzer.git</a:t>
            </a:r>
            <a:r>
              <a:rPr lang="en-US" altLang="zh-CN" b="0" i="0" dirty="0">
                <a:effectLst/>
                <a:latin typeface="宋体" panose="02010600030101010101" pitchFamily="2" charset="-122"/>
                <a:ea typeface="宋体" panose="02010600030101010101" pitchFamily="2" charset="-122"/>
              </a:rPr>
              <a:t> cd </a:t>
            </a:r>
            <a:r>
              <a:rPr lang="en-US" altLang="zh-CN" b="0" i="0" dirty="0" err="1">
                <a:effectLst/>
                <a:latin typeface="宋体" panose="02010600030101010101" pitchFamily="2" charset="-122"/>
                <a:ea typeface="宋体" panose="02010600030101010101" pitchFamily="2" charset="-122"/>
              </a:rPr>
              <a:t>MinStock</a:t>
            </a:r>
            <a:r>
              <a:rPr lang="en-US" altLang="zh-CN" b="0" i="0" dirty="0">
                <a:effectLst/>
                <a:latin typeface="宋体" panose="02010600030101010101" pitchFamily="2" charset="-122"/>
                <a:ea typeface="宋体" panose="02010600030101010101" pitchFamily="2" charset="-122"/>
              </a:rPr>
              <a:t>-Analyzer</a:t>
            </a:r>
          </a:p>
          <a:p>
            <a:pPr algn="l">
              <a:spcBef>
                <a:spcPts val="1200"/>
              </a:spcBef>
              <a:spcAft>
                <a:spcPts val="1200"/>
              </a:spcAft>
              <a:buFont typeface="+mj-lt"/>
              <a:buAutoNum type="arabicPeriod"/>
            </a:pPr>
            <a:r>
              <a:rPr lang="zh-CN" altLang="en-US" b="0" i="0" dirty="0">
                <a:effectLst/>
                <a:latin typeface="宋体" panose="02010600030101010101" pitchFamily="2" charset="-122"/>
                <a:ea typeface="宋体" panose="02010600030101010101" pitchFamily="2" charset="-122"/>
              </a:rPr>
              <a:t>配置虚拟环境并安装依赖：</a:t>
            </a:r>
            <a:r>
              <a:rPr lang="en-US" altLang="zh-CN" b="0" i="0" dirty="0">
                <a:effectLst/>
                <a:latin typeface="宋体" panose="02010600030101010101" pitchFamily="2" charset="-122"/>
                <a:ea typeface="宋体" panose="02010600030101010101" pitchFamily="2" charset="-122"/>
              </a:rPr>
              <a:t>pip install -r requirements.txt</a:t>
            </a:r>
          </a:p>
          <a:p>
            <a:pPr algn="l">
              <a:spcBef>
                <a:spcPts val="1200"/>
              </a:spcBef>
              <a:spcAft>
                <a:spcPts val="1200"/>
              </a:spcAft>
              <a:buFont typeface="+mj-lt"/>
              <a:buAutoNum type="arabicPeriod"/>
            </a:pPr>
            <a:r>
              <a:rPr lang="zh-CN" altLang="en-US" b="0" i="0" dirty="0">
                <a:effectLst/>
                <a:latin typeface="宋体" panose="02010600030101010101" pitchFamily="2" charset="-122"/>
                <a:ea typeface="宋体" panose="02010600030101010101" pitchFamily="2" charset="-122"/>
              </a:rPr>
              <a:t>环境变量配置：在项目根目录创建 </a:t>
            </a:r>
            <a:r>
              <a:rPr lang="en-US" altLang="zh-CN" b="0" i="0" dirty="0">
                <a:effectLst/>
                <a:latin typeface="宋体" panose="02010600030101010101" pitchFamily="2" charset="-122"/>
                <a:ea typeface="宋体" panose="02010600030101010101" pitchFamily="2" charset="-122"/>
              </a:rPr>
              <a:t>.env </a:t>
            </a:r>
            <a:r>
              <a:rPr lang="zh-CN" altLang="en-US" b="0" i="0" dirty="0">
                <a:effectLst/>
                <a:latin typeface="宋体" panose="02010600030101010101" pitchFamily="2" charset="-122"/>
                <a:ea typeface="宋体" panose="02010600030101010101" pitchFamily="2" charset="-122"/>
              </a:rPr>
              <a:t>文件，写入大模型 </a:t>
            </a:r>
            <a:r>
              <a:rPr lang="en-US" altLang="zh-CN" b="0" i="0" dirty="0">
                <a:effectLst/>
                <a:latin typeface="宋体" panose="02010600030101010101" pitchFamily="2" charset="-122"/>
                <a:ea typeface="宋体" panose="02010600030101010101" pitchFamily="2" charset="-122"/>
              </a:rPr>
              <a:t>API </a:t>
            </a:r>
            <a:r>
              <a:rPr lang="zh-CN" altLang="en-US" b="0" i="0" dirty="0">
                <a:effectLst/>
                <a:latin typeface="宋体" panose="02010600030101010101" pitchFamily="2" charset="-122"/>
                <a:ea typeface="宋体" panose="02010600030101010101" pitchFamily="2" charset="-122"/>
              </a:rPr>
              <a:t>密钥：</a:t>
            </a:r>
            <a:r>
              <a:rPr lang="en-US" altLang="zh-CN" b="0" i="0" dirty="0">
                <a:effectLst/>
                <a:latin typeface="宋体" panose="02010600030101010101" pitchFamily="2" charset="-122"/>
                <a:ea typeface="宋体" panose="02010600030101010101" pitchFamily="2" charset="-122"/>
              </a:rPr>
              <a:t>ZHIPU_API_KEY=</a:t>
            </a:r>
            <a:r>
              <a:rPr lang="en-US" altLang="zh-CN" b="0" i="0" dirty="0" err="1">
                <a:effectLst/>
                <a:latin typeface="宋体" panose="02010600030101010101" pitchFamily="2" charset="-122"/>
                <a:ea typeface="宋体" panose="02010600030101010101" pitchFamily="2" charset="-122"/>
              </a:rPr>
              <a:t>your_api_key_here</a:t>
            </a:r>
            <a:endParaRPr lang="en-US" altLang="zh-CN" b="0" i="0" dirty="0">
              <a:effectLst/>
              <a:latin typeface="宋体" panose="02010600030101010101" pitchFamily="2" charset="-122"/>
              <a:ea typeface="宋体" panose="02010600030101010101" pitchFamily="2" charset="-122"/>
            </a:endParaRPr>
          </a:p>
          <a:p>
            <a:pPr algn="l">
              <a:spcBef>
                <a:spcPts val="1200"/>
              </a:spcBef>
              <a:spcAft>
                <a:spcPts val="1200"/>
              </a:spcAft>
              <a:buFont typeface="+mj-lt"/>
              <a:buAutoNum type="arabicPeriod"/>
            </a:pPr>
            <a:r>
              <a:rPr lang="zh-CN" altLang="en-US" b="0" i="0" dirty="0">
                <a:effectLst/>
                <a:latin typeface="宋体" panose="02010600030101010101" pitchFamily="2" charset="-122"/>
                <a:ea typeface="宋体" panose="02010600030101010101" pitchFamily="2" charset="-122"/>
              </a:rPr>
              <a:t>启动应用：</a:t>
            </a:r>
            <a:r>
              <a:rPr lang="en-US" altLang="zh-CN" b="0" i="0" dirty="0" err="1">
                <a:effectLst/>
                <a:latin typeface="宋体" panose="02010600030101010101" pitchFamily="2" charset="-122"/>
                <a:ea typeface="宋体" panose="02010600030101010101" pitchFamily="2" charset="-122"/>
              </a:rPr>
              <a:t>streamlit</a:t>
            </a:r>
            <a:r>
              <a:rPr lang="en-US" altLang="zh-CN" b="0" i="0" dirty="0">
                <a:effectLst/>
                <a:latin typeface="宋体" panose="02010600030101010101" pitchFamily="2" charset="-122"/>
                <a:ea typeface="宋体" panose="02010600030101010101" pitchFamily="2" charset="-122"/>
              </a:rPr>
              <a:t> run app.py</a:t>
            </a:r>
          </a:p>
          <a:p>
            <a:endParaRPr lang="zh-CN" altLang="en-US" dirty="0"/>
          </a:p>
        </p:txBody>
      </p:sp>
    </p:spTree>
    <p:extLst>
      <p:ext uri="{BB962C8B-B14F-4D97-AF65-F5344CB8AC3E}">
        <p14:creationId xmlns:p14="http://schemas.microsoft.com/office/powerpoint/2010/main" val="2565532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E73C3-956A-092E-AFF5-FB2A7CAC7C9D}"/>
              </a:ext>
            </a:extLst>
          </p:cNvPr>
          <p:cNvSpPr>
            <a:spLocks noGrp="1"/>
          </p:cNvSpPr>
          <p:nvPr>
            <p:ph type="title"/>
          </p:nvPr>
        </p:nvSpPr>
        <p:spPr/>
        <p:txBody>
          <a:bodyPr/>
          <a:lstStyle/>
          <a:p>
            <a:r>
              <a:rPr lang="zh-CN" altLang="en-US" b="1" dirty="0">
                <a:latin typeface="宋体" panose="02010600030101010101" pitchFamily="2" charset="-122"/>
                <a:ea typeface="宋体" panose="02010600030101010101" pitchFamily="2" charset="-122"/>
              </a:rPr>
              <a:t>总结与改进</a:t>
            </a:r>
          </a:p>
        </p:txBody>
      </p:sp>
      <p:sp>
        <p:nvSpPr>
          <p:cNvPr id="3" name="内容占位符 2">
            <a:extLst>
              <a:ext uri="{FF2B5EF4-FFF2-40B4-BE49-F238E27FC236}">
                <a16:creationId xmlns:a16="http://schemas.microsoft.com/office/drawing/2014/main" id="{5B8A40E0-0A20-8A18-850B-C5B43A7C3B27}"/>
              </a:ext>
            </a:extLst>
          </p:cNvPr>
          <p:cNvSpPr>
            <a:spLocks noGrp="1"/>
          </p:cNvSpPr>
          <p:nvPr>
            <p:ph idx="1"/>
          </p:nvPr>
        </p:nvSpPr>
        <p:spPr/>
        <p:txBody>
          <a:bodyPr/>
          <a:lstStyle/>
          <a:p>
            <a:r>
              <a:rPr lang="zh-CN" altLang="en-US" dirty="0">
                <a:latin typeface="宋体" panose="02010600030101010101" pitchFamily="2" charset="-122"/>
                <a:ea typeface="宋体" panose="02010600030101010101" pitchFamily="2" charset="-122"/>
              </a:rPr>
              <a:t>打通了从数据抓取、大模型通信到前端展示的完整开发闭环，掌握了处理网络阻断和环境冲突的实际排错方法。</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目前只拉取了纯量价数据，未来可以计算</a:t>
            </a:r>
            <a:r>
              <a:rPr lang="en-US" altLang="zh-CN" dirty="0">
                <a:latin typeface="宋体" panose="02010600030101010101" pitchFamily="2" charset="-122"/>
                <a:ea typeface="宋体" panose="02010600030101010101" pitchFamily="2" charset="-122"/>
              </a:rPr>
              <a:t>MACD</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RSI</a:t>
            </a:r>
            <a:r>
              <a:rPr lang="zh-CN" altLang="en-US" dirty="0">
                <a:latin typeface="宋体" panose="02010600030101010101" pitchFamily="2" charset="-122"/>
                <a:ea typeface="宋体" panose="02010600030101010101" pitchFamily="2" charset="-122"/>
              </a:rPr>
              <a:t>等技术指标一并喂给大模型。</a:t>
            </a:r>
            <a:endParaRPr lang="en-US" altLang="zh-CN" dirty="0">
              <a:latin typeface="宋体" panose="02010600030101010101" pitchFamily="2" charset="-122"/>
              <a:ea typeface="宋体" panose="02010600030101010101" pitchFamily="2" charset="-122"/>
            </a:endParaRPr>
          </a:p>
          <a:p>
            <a:pPr algn="just"/>
            <a:r>
              <a:rPr lang="zh-CN" altLang="en-US" dirty="0">
                <a:latin typeface="宋体" panose="02010600030101010101" pitchFamily="2" charset="-122"/>
                <a:ea typeface="宋体" panose="02010600030101010101" pitchFamily="2" charset="-122"/>
              </a:rPr>
              <a:t>缺少多只股票的横向对比功能。</a:t>
            </a:r>
            <a:endParaRPr lang="en-US" altLang="zh-CN" dirty="0">
              <a:latin typeface="宋体" panose="02010600030101010101" pitchFamily="2" charset="-122"/>
              <a:ea typeface="宋体" panose="02010600030101010101" pitchFamily="2" charset="-122"/>
            </a:endParaRPr>
          </a:p>
          <a:p>
            <a:pPr algn="just"/>
            <a:r>
              <a:rPr lang="zh-CN" altLang="en-US" dirty="0">
                <a:latin typeface="宋体" panose="02010600030101010101" pitchFamily="2" charset="-122"/>
                <a:ea typeface="宋体" panose="02010600030101010101" pitchFamily="2" charset="-122"/>
              </a:rPr>
              <a:t>前端界面可以进一步优化，加入动态 </a:t>
            </a:r>
            <a:r>
              <a:rPr lang="en-US" altLang="zh-CN" dirty="0">
                <a:latin typeface="宋体" panose="02010600030101010101" pitchFamily="2" charset="-122"/>
                <a:ea typeface="宋体" panose="02010600030101010101" pitchFamily="2" charset="-122"/>
              </a:rPr>
              <a:t>K </a:t>
            </a:r>
            <a:r>
              <a:rPr lang="zh-CN" altLang="en-US" dirty="0">
                <a:latin typeface="宋体" panose="02010600030101010101" pitchFamily="2" charset="-122"/>
                <a:ea typeface="宋体" panose="02010600030101010101" pitchFamily="2" charset="-122"/>
              </a:rPr>
              <a:t>线图表（例如使用    </a:t>
            </a:r>
            <a:r>
              <a:rPr lang="en-US" altLang="zh-CN" dirty="0" err="1">
                <a:latin typeface="宋体" panose="02010600030101010101" pitchFamily="2" charset="-122"/>
                <a:ea typeface="宋体" panose="02010600030101010101" pitchFamily="2" charset="-122"/>
              </a:rPr>
              <a:t>pyecharts</a:t>
            </a:r>
            <a:r>
              <a:rPr lang="zh-CN" altLang="en-US" dirty="0">
                <a:latin typeface="宋体" panose="02010600030101010101" pitchFamily="2" charset="-122"/>
                <a:ea typeface="宋体" panose="02010600030101010101" pitchFamily="2" charset="-122"/>
              </a:rPr>
              <a:t>）。</a:t>
            </a:r>
          </a:p>
        </p:txBody>
      </p:sp>
    </p:spTree>
    <p:extLst>
      <p:ext uri="{BB962C8B-B14F-4D97-AF65-F5344CB8AC3E}">
        <p14:creationId xmlns:p14="http://schemas.microsoft.com/office/powerpoint/2010/main" val="1936847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FE19B85-19C1-E2A3-3E57-FBD98C2AEC26}"/>
              </a:ext>
            </a:extLst>
          </p:cNvPr>
          <p:cNvSpPr>
            <a:spLocks noGrp="1"/>
          </p:cNvSpPr>
          <p:nvPr>
            <p:ph idx="1"/>
          </p:nvPr>
        </p:nvSpPr>
        <p:spPr/>
        <p:txBody>
          <a:bodyPr/>
          <a:lstStyle/>
          <a:p>
            <a:r>
              <a:rPr lang="zh-CN" altLang="en-US" dirty="0">
                <a:latin typeface="宋体" panose="02010600030101010101" pitchFamily="2" charset="-122"/>
                <a:ea typeface="宋体" panose="02010600030101010101" pitchFamily="2" charset="-122"/>
              </a:rPr>
              <a:t>项目源码地址：</a:t>
            </a:r>
            <a:r>
              <a:rPr lang="en-US" altLang="zh-CN" dirty="0">
                <a:latin typeface="宋体" panose="02010600030101010101" pitchFamily="2" charset="-122"/>
                <a:ea typeface="宋体" panose="02010600030101010101" pitchFamily="2" charset="-122"/>
                <a:hlinkClick r:id="rId2"/>
              </a:rPr>
              <a:t>https://github.com/ZhouHuimin0111/MinStock-Analyzer</a:t>
            </a:r>
            <a:endParaRPr lang="en-US" altLang="zh-CN"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网页应用的访问网址：</a:t>
            </a:r>
            <a:endParaRPr lang="en-US" altLang="zh-CN" dirty="0">
              <a:latin typeface="宋体" panose="02010600030101010101" pitchFamily="2" charset="-122"/>
              <a:ea typeface="宋体" panose="02010600030101010101" pitchFamily="2" charset="-122"/>
            </a:endParaRPr>
          </a:p>
          <a:p>
            <a:pPr marL="0" indent="0">
              <a:buNone/>
            </a:pPr>
            <a:r>
              <a:rPr lang="en-US" altLang="zh-CN" dirty="0">
                <a:latin typeface="宋体" panose="02010600030101010101" pitchFamily="2" charset="-122"/>
                <a:ea typeface="宋体" panose="02010600030101010101" pitchFamily="2" charset="-122"/>
              </a:rPr>
              <a:t> https://minstock-analyzer-8ehuoc2fp3ayp42qnxmvn2.streamlit.app/</a:t>
            </a:r>
            <a:endParaRPr lang="zh-CN" altLang="en-US"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49056647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1174</TotalTime>
  <Words>830</Words>
  <Application>Microsoft Office PowerPoint</Application>
  <PresentationFormat>宽屏</PresentationFormat>
  <Paragraphs>60</Paragraphs>
  <Slides>14</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14</vt:i4>
      </vt:variant>
    </vt:vector>
  </HeadingPairs>
  <TitlesOfParts>
    <vt:vector size="19" baseType="lpstr">
      <vt:lpstr>等线</vt:lpstr>
      <vt:lpstr>等线 Light</vt:lpstr>
      <vt:lpstr>宋体</vt:lpstr>
      <vt:lpstr>Arial</vt:lpstr>
      <vt:lpstr>Office 主题​​</vt:lpstr>
      <vt:lpstr>MinStock-Analyzer： 基于大语言模型的A股技术面分析微应用</vt:lpstr>
      <vt:lpstr>主要功能</vt:lpstr>
      <vt:lpstr>效果演示</vt:lpstr>
      <vt:lpstr>PowerPoint 演示文稿</vt:lpstr>
      <vt:lpstr>核心技术栈</vt:lpstr>
      <vt:lpstr>亮点一：数据源切换</vt:lpstr>
      <vt:lpstr>PowerPoint 演示文稿</vt:lpstr>
      <vt:lpstr>亮点二：数据驱动的大模型应用实践</vt:lpstr>
      <vt:lpstr>PowerPoint 演示文稿</vt:lpstr>
      <vt:lpstr>亮点三：密钥安全与双端兼容</vt:lpstr>
      <vt:lpstr>PowerPoint 演示文稿</vt:lpstr>
      <vt:lpstr>运行说明</vt:lpstr>
      <vt:lpstr>总结与改进</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Zhm200512@outlook.com</dc:creator>
  <cp:lastModifiedBy>Zhm200512@outlook.com</cp:lastModifiedBy>
  <cp:revision>4</cp:revision>
  <dcterms:created xsi:type="dcterms:W3CDTF">2026-01-19T12:12:50Z</dcterms:created>
  <dcterms:modified xsi:type="dcterms:W3CDTF">2026-02-26T12:25:59Z</dcterms:modified>
</cp:coreProperties>
</file>